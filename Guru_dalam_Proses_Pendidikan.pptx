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Bapak, Ibu, teman-teman, sebelum kita mulai, izinkan saya mengajak kita masuk ke sebuah cerita kecil. Di luar sedang hujan. Seorang guru berdiri di depan sebuah pintu, melangkah ke kiri, lalu ke kanan, payungnya basah, tetapi langkahnya tetap ingin masuk. Barangkali begitulah gambaran banyak guru kita: hujan tantangan datang dari mana-mana, namun pintu kelas tetap mereka buka setiap pagi.
[C] Pertanyaannya, apakah cukup kita menyalahkan hujannya, atau menyalahkan gurunya? Jangan-jangan ada pintu lain yang perlu kita buka bersama-sama.
[A] Baik, mari kita buka pintunya.
----
[S] Assalamualaikum warahmatullahi wabarakatuh. Selamat pagi Bapak Dr. Cecep Anwar, M.Ag., dan teman-teman semua. Saya Akbar Tausiur Rido dari UIN Sunan Gunung Djati Bandung. Pada mata kuliah Tafsir Manajemen Pendidikan Islam ini, saya membawa makalah berjudul Guru dalam Proses Pendidikan, Kajian Ayat dan Manajemen Pengelolaannya.
[A] Alurnya ringkas. Kita mulai dari masalah, lalu pertanyaan kajian, kemudian ayat dan tafsir enam mufasir, kaidah bahasanya, pemetaan ke kompetensi guru, dan terakhir manajemen SDM serta kesimpulan. Empat kata di layar ini adalah rantai besarnya: guru, pendidikan Islam, Al-Quran, dan manajemen.
Estimasi waktu: 0:15 + 0:30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Coba kita ingat guru yang paling membekas dalam hidup kita. Biasanya bukan karena ia paling cepat menghabiskan materi, tetapi karena cara ia memperlakukan kita. Itulah gambaran ideal dalam pendahuluan makalah: guru adalah pewaris misi para nabi, dan pendidikan tidak berhenti pada pemindahan pengetahuan, tetapi mencakup karakter, penyucian jiwa, dan kedewasaan moral (Azizah dkk., 2025).
[I] Namun kenyataannya belum selalu begitu. Pemenuhan kualifikasi pendidik kerap berhenti pada aspek administratif, dan pengembangan profesional sering tidak terencana. Sebuah kegiatan pengabdian melaporkan hanya sekitar 40 persen pendidik yang rutin mengikuti pelatihan (Fahmi dkk., 2025). Angka ini dari konteks lokal, jadi kita baca sebagai ilustrasi, bukan potret nasional.
[C] Kalau gejalanya sebanyak ini, apakah semuanya salah gurunya? Makalah menjawab: tidak semata. Diagnosisnya, cara lembaga mengelola guru ikut menjadi bagian dari persoalan (Jamalulel dkk., 2024). Lalu, sudah adakah kajian yang menjawabnya?
Estimasi waktu: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Sekarang kita berpikir bersama. Kalau ayat ini sudah lama dikaji, kenapa masalahnya masih terasa?
[I] Penelusuran penulis menemukan beberapa kajian yang sudah menautkan QS Al-Jumu'ah ayat 2 dengan kompetensi guru. Azizah dkk. membahas kompetensi pedagogik, Hidayah dan Romlah membandingkannya dengan Undang-Undang Nomor 14 Tahun 2005, dan Lestari dkk. mengaitkan pedagogik dengan manajemen pengembangannya. Tetapi semuanya berfokus pada satu kompetensi atau pada perbandingan normatif. Pemetaan tiga fungsi kenabian ke empat kompetensi sekaligus, lalu ke seluruh siklus manajemen SDM, belum tampak.
[A] Dari celah itulah lahir tiga pertanyaan. Bagaimana mufasir memaknai tiga fungsi itu? Bagaimana fungsi itu terpetakan ke empat kompetensi? Dan bagaimana pemetaan itu dioperasionalkan dalam manajemen SDM? Tiga pertanyaan ini kita pegang sampai kesimpulan. Mari mulai dari sumbernya: ayat apa yang menjadi pijakan?
Estimasi waktu: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Bayangkan Rasulullah saw. sebagai guru pertama di tengah masyarakat yang, menurut tafsir klasik, mayoritas tidak memiliki tradisi baca-tulis kitab suci.
[I] QS Al-Jumu'ah ayat 2 merumuskan tugas beliau dalam tiga fungsi: tilawah, membacakan ayat; tazkiyah, menyucikan jiwa; dan ta'lim al-kitab wa al-hikmah, mengajarkan Kitab dan Hikmah. Pola serumpun ini muncul juga pada Al-Baqarah 129 dan 151, serta Ali 'Imran 164. Jadi kajiannya tematik: satu tema, empat ayat, yaitu tugas kenabian sebagai pendidik. Surah ini Madaniyyah, dan untuk ayat kedua tidak dikenal sabab nuzul khusus, sehingga dibaca lewat konteks dan munasabah dengan doa Nabi Ibrahim.
[C] Sekarang, bagaimana para mufasir memaknai tiga kata kunci itu? Kita buka ayatnya, dan kita klik katanya satu per satu.
Estimasi waktu: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Bayangkan Rasulullah saw. sebagai guru pertama di tengah masyarakat yang, menurut tafsir klasik, mayoritas tidak memiliki tradisi baca-tulis kitab suci.
[I] QS Al-Jumu'ah ayat 2 merumuskan tugas beliau dalam tiga fungsi: tilawah, membacakan ayat; tazkiyah, menyucikan jiwa; dan ta'lim al-kitab wa al-hikmah, mengajarkan Kitab dan Hikmah. Pola serumpun ini muncul juga pada Al-Baqarah 129 dan 151, serta Ali 'Imran 164. Jadi kajiannya tematik: satu tema, empat ayat, yaitu tugas kenabian sebagai pendidik. Surah ini Madaniyyah, dan untuk ayat kedua tidak dikenal sabab nuzul khusus, sehingga dibaca lewat konteks dan munasabah dengan doa Nabi Ibrahim.
[C] Sekarang, bagaimana para mufasir memaknai tiga kata kunci itu? Kita buka ayatnya, dan kita klik katanya satu per satu.
Estimasi waktu: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Di slide ini kita tidak sekadar membaca ayat, kita membukanya. Setiap kata kunci bisa diklik. Kita mulai dari tilawah.
[I] Tilawah berakar dari tala-yatlu: membaca, menyampaikan, mengikuti secara berurutan. Ath-Thabari memandangnya fungsi penyampaian atau tabligh. Ibnu Katsir: membacakan ayat agar manusia mengenal wahyu. Quraish Shihab menambahkan, tilawah tidak terbatas pada teks tertulis, tetapi mencakup ayat kauniyah di alam. Az-Zuhaili menekankan kesadaran rasional, dan Sayyid Quthb melihatnya sebagai pintu awal kesadaran akidah.
[I] Berikutnya tazkiyah. Al-Qurthubi memaknainya membersihkan manusia dari syirik, maksiat, dan penyakit hati. Az-Zuhaili: pembebasan jiwa dari paganisme. Quthb: penyucian nurani terus-menerus. Ibnu Katsir: menumbuhkan ketaatan dan budi pekerti. Satu catatan penting dari penulis: tazkiyah adalah proses batin, jadi lembaga tidak menilai hati, hanya menciptakan kondisi dan mengamati perilaku.
[I] Terakhir ta'lim. Al-Kitab dimaknai Al-Quran, hikmah dimaknai As-Sunnah, pemahaman agama, atau kebijaksanaan bertindak. Al-Qurthubi: rahasia hukum syariat dan kearifan berpikir. Ath-Thabari: kebaikan dan ketepatan keputusan. Shihab: ilmu teoretis sekaligus kemampuan menerapkannya dengan bijak. Penulis lalu membedakan: al-kitab tentang apa yang diketahui, al-hikmah tentang kapan, kepada siapa, dan bagaimana. Itu sintesis penulis, bukan kutipan mufasir.
[L] Titik temunya, keenam tafsir melihat pendidikan kenabian sebagai kerja utuh: menyampaikan, menyucikan, dan mengajarkan.
Estimasi waktu: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Lanjutan naskah slide tafsir: lihat catatan pada slide tafsir lens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Lanjutan naskah slide tafsir: lihat catatan pada slide tafsir lens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Sekarang kita masuk ke dapur bahasanya. Ada tiga kaidah yang menarik.
[I] Pertama, bentuk kata kerja. Yatlu, yuzakki, dan yu'allimu berbentuk mudhari', yang lazim dipahami menunjuk peristiwa yang berlangsung dan berulang. Penulis membacanya sebagai isyarat bahwa pendidikan adalah proses yang terus diperbarui, sehingga pembinaan guru harus berkelanjutan, bukan pelatihan sesaat. Ini pembacaan penulis dan perlu diuji lebih dalam.
[I] Kedua, urutan fungsi. Tiga ayat menaruh tazkiyah sebelum ta'lim, sementara doa Ibrahim pada Al-Baqarah 129 menyebut ta'lim lebih dulu. Penulis membaca bahwa dalam doa, yang disebut dulu adalah isi permohonan, sedangkan pada ayat terkabulnya, urutan mencerminkan prioritas pelaksanaan. Ketiga, kata minhum, min anfusihim, dan minkum: pendidik hadir dari tengah komunitas. Tambahan ma lam takunu ta'lamun pada Al-Baqarah 151 berarti mengajar juga berarti mau terus belajar.
[L] Dan penutup dhalalin mubin mengingatkan ukuran keberhasilan: berubahnya keadaan murid, bukan sekadar lengkapnya materi. Setelah bahasanya jelas, mari kita terjemahkan ke dunia guru hari ini.
Estimasi waktu: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Lanjutan naskah kaidah kebahasaan: lihat catatan slide sebelumnya.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Undang-Undang Nomor 14 Tahun 2005 menetapkan empat kompetensi guru. Makalah menurunkannya dari struktur tugas kenabian. Perhatikan garis yang muncul: tilawah bertumpu pada kompetensi pedagogik, tazkiyah pada kepribadian, ta'lim al-kitab pada profesional, dan ta'lim al-hikmah pada sosial. Garis putus-putus menunjukkan kompetensi sekunder, karena satu fungsi dapat menyentuh lebih dari satu kompetensi.
[C] Lihat lingkaran yang berdenyut pada tazkiyah. Penulis membaca posisi tazkiyah di antara tilawah dan ta'lim sebagai isyarat bahwa kepribadian menjadi poros pengikat. Ini interpretasi penulis: keterampilan menyampaikan dan penguasaan ilmu akan kehilangan daya didik tanpa keteladanan.
[L] Dampaknya, kompetensi tidak lagi dipisah dalam sekat formalistis, dan profesi guru terangkat menjadi pengabdian kenabian. Lalu bagaimana lembaga mengelolanya?
Estimasi waktu: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Bagian ini paling dekat dengan kerja pengelola lembaga. Ada lima fungsi, dan bisa kita baca sebagai satu siklus.
[I] Perencanaan tidak berhenti pada hitungan kebutuhan dan ijazah, tetapi memetakan profil empat kompetensi. Rekrutmen berpegang pada syura, amanah, 'adalah, dan meritokrasi, dengan rubrik berbobot yang diumumkan agar penilaian akhlak tidak subjektif. Pembinaan memadukan penguatan teknis dan penyucian jiwa secara berkelanjutan, lewat halaqah, pelatihan digital, MGMP, dan mentoring. Penilaian kinerja bersifat multisumber dan berbasis muhasabah, dan hasilnya dipakai lebih dulu untuk pembinaan sebelum keputusan karier.
[L] Terakhir kompensasi yang adil, selaras dengan maqasid syariah. Kalimat kuncinya: pengabdian adalah niat guru, sedangkan keadilan adalah kewajiban lembaga. Jadi, apa yang ditemukan secara keseluruhan?
Estimasi waktu: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Tiga temuan. Pertama, empat ayat memuat pola pendidikan kenabian yang konsisten, dengan variasi urutan dan bingkai. Kedua, pola itu terpetakan ke empat kompetensi guru. Ketiga, pemetaan itu dapat dioperasionalkan melalui lima fungsi manajemen SDM dengan indikator yang dapat diamati.
[L] Artinya bagi pengelolaan guru: pembinaan tidak menempatkan penyucian jiwa sebagai pelengkap; evaluasi bermuara pada dampak bagi murid; seleksi menilai akhlak dengan instrumen yang jelas; dan kompensasi berjalan adil. Makalah juga jujur soal batas: kajiannya konseptual, pemetaannya tafsiran penulis, dibatasi empat ayat dan enam tafsir terjemahan, serta perlu uji empiris. Risikonya tiga: formalisme, subjektivitas, dan kesenjangan kapasitas.
Estimasi waktu: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Mari kita jawab tiga pertanyaan tadi. Pertama, tugas kenabian sebagai pendidik terdiri atas tilawah, tazkiyah, dan ta'lim al-kitab wa al-hikmah. Kedua, ketiganya terpetakan ke pedagogik, kepribadian, profesional, dan sosial, dengan tazkiyah sebagai poros. Ketiga, pemetaan itu dioperasionalkan pada lima fungsi manajemen SDM. Intinya, mutu guru tidak cukup dijawab dengan pelatihan teknis. Sebelum kita menutup, mari kita keluar lewat pintu kecil di sudut ini.
Estimasi waktu: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Kembali ke cerita di awal. Hari ini langit sudah cerah, dan guru kita berjalan keluar dari pintu itu. Mudah-mudahan makalah ini memberi satu bekal nyata: kalau kita ingin guru yang berkualitas, mari kelola mereka sebagai pengemban amanah pendidikan, dengan standar yang jelas, pembinaan yang berkelanjutan, dan keadilan yang nyata. Terima kasih. Wassalamualaikum warahmatullahi wabarakatuh.
Estimasi waktu: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548640" y="1143000"/>
            <a:ext cx="5120640" cy="274320"/>
          </a:xfrm>
          <a:prstGeom prst="rect">
            <a:avLst/>
          </a:prstGeom>
          <a:noFill/>
          <a:ln/>
        </p:spPr>
        <p:txBody>
          <a:bodyPr wrap="square" lIns="0" tIns="0" rIns="0" bIns="0" rtlCol="0" anchor="ctr"/>
          <a:lstStyle/>
          <a:p>
            <a:pPr indent="0" marL="0">
              <a:buNone/>
            </a:pPr>
            <a:r>
              <a:rPr lang="en-US" sz="1200" dirty="0">
                <a:solidFill>
                  <a:srgbClr val="F0B060"/>
                </a:solidFill>
                <a:latin typeface="Arial" pitchFamily="34" charset="0"/>
                <a:ea typeface="Arial" pitchFamily="34" charset="-122"/>
                <a:cs typeface="Arial" pitchFamily="34" charset="-120"/>
              </a:rPr>
              <a:t>Tafsir Manajemen Pendidikan Islam</a:t>
            </a:r>
            <a:endParaRPr lang="en-US" sz="1200" dirty="0"/>
          </a:p>
        </p:txBody>
      </p:sp>
      <p:sp>
        <p:nvSpPr>
          <p:cNvPr id="5" name="Text 2"/>
          <p:cNvSpPr txBox="1"/>
          <p:nvPr/>
        </p:nvSpPr>
        <p:spPr>
          <a:xfrm>
            <a:off x="548640" y="1417320"/>
            <a:ext cx="5394960" cy="1097280"/>
          </a:xfrm>
          <a:prstGeom prst="rect">
            <a:avLst/>
          </a:prstGeom>
          <a:noFill/>
          <a:ln/>
        </p:spPr>
        <p:txBody>
          <a:bodyPr wrap="square" lIns="0" tIns="0" rIns="0" bIns="0" rtlCol="0" anchor="t"/>
          <a:lstStyle/>
          <a:p>
            <a:pPr indent="0" marL="0">
              <a:buNone/>
            </a:pPr>
            <a:r>
              <a:rPr lang="en-US" sz="3400" b="1" dirty="0">
                <a:solidFill>
                  <a:srgbClr val="EFF1F3"/>
                </a:solidFill>
                <a:latin typeface="Arial" pitchFamily="34" charset="0"/>
                <a:ea typeface="Arial" pitchFamily="34" charset="-122"/>
                <a:cs typeface="Arial" pitchFamily="34" charset="-120"/>
              </a:rPr>
              <a:t>Guru dalam Proses Pendidikan</a:t>
            </a:r>
            <a:endParaRPr lang="en-US" sz="3400" dirty="0"/>
          </a:p>
        </p:txBody>
      </p:sp>
      <p:sp>
        <p:nvSpPr>
          <p:cNvPr id="6" name="Text 3"/>
          <p:cNvSpPr txBox="1"/>
          <p:nvPr/>
        </p:nvSpPr>
        <p:spPr>
          <a:xfrm>
            <a:off x="548640" y="2514600"/>
            <a:ext cx="5120640" cy="731520"/>
          </a:xfrm>
          <a:prstGeom prst="rect">
            <a:avLst/>
          </a:prstGeom>
          <a:noFill/>
          <a:ln/>
        </p:spPr>
        <p:txBody>
          <a:bodyPr wrap="square" lIns="0" tIns="0" rIns="0" bIns="0" rtlCol="0" anchor="t"/>
          <a:lstStyle/>
          <a:p>
            <a:pPr indent="0" marL="0">
              <a:buNone/>
            </a:pPr>
            <a:r>
              <a:rPr lang="en-US" sz="1800" dirty="0">
                <a:solidFill>
                  <a:srgbClr val="EFF1F3"/>
                </a:solidFill>
                <a:latin typeface="Arial" pitchFamily="34" charset="0"/>
                <a:ea typeface="Arial" pitchFamily="34" charset="-122"/>
                <a:cs typeface="Arial" pitchFamily="34" charset="-120"/>
              </a:rPr>
              <a:t>Kajian Ayat dan Manajemen Pengelolaannya</a:t>
            </a:r>
            <a:endParaRPr lang="en-US" sz="1800" dirty="0"/>
          </a:p>
        </p:txBody>
      </p:sp>
      <p:sp>
        <p:nvSpPr>
          <p:cNvPr id="7" name="Text 4"/>
          <p:cNvSpPr txBox="1"/>
          <p:nvPr/>
        </p:nvSpPr>
        <p:spPr>
          <a:xfrm>
            <a:off x="548640" y="3337560"/>
            <a:ext cx="5303520" cy="868680"/>
          </a:xfrm>
          <a:prstGeom prst="rect">
            <a:avLst/>
          </a:prstGeom>
          <a:noFill/>
          <a:ln/>
        </p:spPr>
        <p:txBody>
          <a:bodyPr wrap="square" lIns="0" tIns="0" rIns="0" bIns="0" rtlCol="0" anchor="t"/>
          <a:lstStyle/>
          <a:p>
            <a:pPr indent="0" marL="0">
              <a:spcAft>
                <a:spcPts val="300"/>
              </a:spcAft>
              <a:buNone/>
            </a:pPr>
            <a:r>
              <a:rPr lang="en-US" sz="1300" b="1" dirty="0">
                <a:solidFill>
                  <a:srgbClr val="EFF1F3"/>
                </a:solidFill>
                <a:latin typeface="Arial" pitchFamily="34" charset="0"/>
                <a:ea typeface="Arial" pitchFamily="34" charset="-122"/>
                <a:cs typeface="Arial" pitchFamily="34" charset="-120"/>
              </a:rPr>
              <a:t>Akbar Tausiur Rido</a:t>
            </a:r>
            <a:endParaRPr lang="en-US" sz="1300" dirty="0"/>
          </a:p>
          <a:p>
            <a:pPr indent="0" marL="0">
              <a:spcAft>
                <a:spcPts val="300"/>
              </a:spcAft>
              <a:buNone/>
            </a:pPr>
            <a:r>
              <a:rPr lang="en-US" sz="1000" dirty="0">
                <a:solidFill>
                  <a:srgbClr val="EFF1F3"/>
                </a:solidFill>
                <a:latin typeface="Arial" pitchFamily="34" charset="0"/>
                <a:ea typeface="Arial" pitchFamily="34" charset="-122"/>
                <a:cs typeface="Arial" pitchFamily="34" charset="-120"/>
              </a:rPr>
              <a:t>Universitas Islam Negeri Sunan Gunung Djati, Bandung</a:t>
            </a:r>
            <a:endParaRPr lang="en-US" sz="1300" dirty="0"/>
          </a:p>
          <a:p>
            <a:pPr indent="0" marL="0">
              <a:spcAft>
                <a:spcPts val="300"/>
              </a:spcAft>
              <a:buNone/>
            </a:pPr>
            <a:r>
              <a:rPr lang="en-US" sz="1100" dirty="0">
                <a:solidFill>
                  <a:srgbClr val="F0B060"/>
                </a:solidFill>
                <a:latin typeface="Arial" pitchFamily="34" charset="0"/>
                <a:ea typeface="Arial" pitchFamily="34" charset="-122"/>
                <a:cs typeface="Arial" pitchFamily="34" charset="-120"/>
              </a:rPr>
              <a:t>Dosen Pengampu: Dr. Cecep Anwar, M.Ag.</a:t>
            </a:r>
            <a:endParaRPr lang="en-US" sz="1300" dirty="0"/>
          </a:p>
        </p:txBody>
      </p:sp>
      <p:sp>
        <p:nvSpPr>
          <p:cNvPr id="8" name="Shape 5"/>
          <p:cNvSpPr/>
          <p:nvPr/>
        </p:nvSpPr>
        <p:spPr>
          <a:xfrm>
            <a:off x="6400800" y="1234440"/>
            <a:ext cx="2286000" cy="475488"/>
          </a:xfrm>
          <a:prstGeom prst="roundRect">
            <a:avLst>
              <a:gd name="adj" fmla="val 19231"/>
            </a:avLst>
          </a:prstGeom>
          <a:solidFill>
            <a:srgbClr val="FFFFFF">
              <a:alpha val="12000"/>
            </a:srgbClr>
          </a:solidFill>
          <a:ln w="12700">
            <a:solidFill>
              <a:srgbClr val="CC7722"/>
            </a:solidFill>
            <a:prstDash val="solid"/>
          </a:ln>
        </p:spPr>
      </p:sp>
      <p:sp>
        <p:nvSpPr>
          <p:cNvPr id="9" name="Text 6"/>
          <p:cNvSpPr txBox="1"/>
          <p:nvPr/>
        </p:nvSpPr>
        <p:spPr>
          <a:xfrm>
            <a:off x="6492240" y="1234440"/>
            <a:ext cx="2103120" cy="475488"/>
          </a:xfrm>
          <a:prstGeom prst="rect">
            <a:avLst/>
          </a:prstGeom>
          <a:noFill/>
          <a:ln/>
        </p:spPr>
        <p:txBody>
          <a:bodyPr wrap="square" lIns="0" tIns="0" rIns="0" bIns="0" rtlCol="0" anchor="ctr"/>
          <a:lstStyle/>
          <a:p>
            <a:pPr indent="0" marL="0">
              <a:buNone/>
            </a:pPr>
            <a:r>
              <a:rPr lang="en-US" sz="1300" b="1" dirty="0">
                <a:solidFill>
                  <a:srgbClr val="EFF1F3"/>
                </a:solidFill>
                <a:latin typeface="Arial" pitchFamily="34" charset="0"/>
                <a:ea typeface="Arial" pitchFamily="34" charset="-122"/>
                <a:cs typeface="Arial" pitchFamily="34" charset="-120"/>
              </a:rPr>
              <a:t>Guru</a:t>
            </a:r>
            <a:endParaRPr lang="en-US" sz="1300" dirty="0"/>
          </a:p>
        </p:txBody>
      </p:sp>
      <p:sp>
        <p:nvSpPr>
          <p:cNvPr id="10" name="Shape 7"/>
          <p:cNvSpPr/>
          <p:nvPr/>
        </p:nvSpPr>
        <p:spPr>
          <a:xfrm>
            <a:off x="7543800" y="1709928"/>
            <a:ext cx="0" cy="182880"/>
          </a:xfrm>
          <a:prstGeom prst="line">
            <a:avLst/>
          </a:prstGeom>
          <a:noFill/>
          <a:ln w="25400">
            <a:solidFill>
              <a:srgbClr val="CC7722"/>
            </a:solidFill>
            <a:prstDash val="solid"/>
          </a:ln>
        </p:spPr>
      </p:sp>
      <p:sp>
        <p:nvSpPr>
          <p:cNvPr id="11" name="Shape 8"/>
          <p:cNvSpPr/>
          <p:nvPr/>
        </p:nvSpPr>
        <p:spPr>
          <a:xfrm>
            <a:off x="6400800" y="1892808"/>
            <a:ext cx="2286000" cy="475488"/>
          </a:xfrm>
          <a:prstGeom prst="roundRect">
            <a:avLst>
              <a:gd name="adj" fmla="val 19231"/>
            </a:avLst>
          </a:prstGeom>
          <a:solidFill>
            <a:srgbClr val="FFFFFF">
              <a:alpha val="12000"/>
            </a:srgbClr>
          </a:solidFill>
          <a:ln w="12700">
            <a:solidFill>
              <a:srgbClr val="CC7722"/>
            </a:solidFill>
            <a:prstDash val="solid"/>
          </a:ln>
        </p:spPr>
      </p:sp>
      <p:sp>
        <p:nvSpPr>
          <p:cNvPr id="12" name="Text 9"/>
          <p:cNvSpPr txBox="1"/>
          <p:nvPr/>
        </p:nvSpPr>
        <p:spPr>
          <a:xfrm>
            <a:off x="6492240" y="1892808"/>
            <a:ext cx="2103120" cy="475488"/>
          </a:xfrm>
          <a:prstGeom prst="rect">
            <a:avLst/>
          </a:prstGeom>
          <a:noFill/>
          <a:ln/>
        </p:spPr>
        <p:txBody>
          <a:bodyPr wrap="square" lIns="0" tIns="0" rIns="0" bIns="0" rtlCol="0" anchor="ctr"/>
          <a:lstStyle/>
          <a:p>
            <a:pPr indent="0" marL="0">
              <a:buNone/>
            </a:pPr>
            <a:r>
              <a:rPr lang="en-US" sz="1300" b="1" dirty="0">
                <a:solidFill>
                  <a:srgbClr val="EFF1F3"/>
                </a:solidFill>
                <a:latin typeface="Arial" pitchFamily="34" charset="0"/>
                <a:ea typeface="Arial" pitchFamily="34" charset="-122"/>
                <a:cs typeface="Arial" pitchFamily="34" charset="-120"/>
              </a:rPr>
              <a:t>Pendidikan Islam</a:t>
            </a:r>
            <a:endParaRPr lang="en-US" sz="1300" dirty="0"/>
          </a:p>
        </p:txBody>
      </p:sp>
      <p:sp>
        <p:nvSpPr>
          <p:cNvPr id="13" name="Shape 10"/>
          <p:cNvSpPr/>
          <p:nvPr/>
        </p:nvSpPr>
        <p:spPr>
          <a:xfrm>
            <a:off x="7543800" y="2368296"/>
            <a:ext cx="0" cy="182880"/>
          </a:xfrm>
          <a:prstGeom prst="line">
            <a:avLst/>
          </a:prstGeom>
          <a:noFill/>
          <a:ln w="25400">
            <a:solidFill>
              <a:srgbClr val="CC7722"/>
            </a:solidFill>
            <a:prstDash val="solid"/>
          </a:ln>
        </p:spPr>
      </p:sp>
      <p:sp>
        <p:nvSpPr>
          <p:cNvPr id="14" name="Shape 11"/>
          <p:cNvSpPr/>
          <p:nvPr/>
        </p:nvSpPr>
        <p:spPr>
          <a:xfrm>
            <a:off x="6400800" y="2551176"/>
            <a:ext cx="2286000" cy="475488"/>
          </a:xfrm>
          <a:prstGeom prst="roundRect">
            <a:avLst>
              <a:gd name="adj" fmla="val 19231"/>
            </a:avLst>
          </a:prstGeom>
          <a:solidFill>
            <a:srgbClr val="FFFFFF">
              <a:alpha val="12000"/>
            </a:srgbClr>
          </a:solidFill>
          <a:ln w="12700">
            <a:solidFill>
              <a:srgbClr val="CC7722"/>
            </a:solidFill>
            <a:prstDash val="solid"/>
          </a:ln>
        </p:spPr>
      </p:sp>
      <p:sp>
        <p:nvSpPr>
          <p:cNvPr id="15" name="Text 12"/>
          <p:cNvSpPr txBox="1"/>
          <p:nvPr/>
        </p:nvSpPr>
        <p:spPr>
          <a:xfrm>
            <a:off x="6492240" y="2551176"/>
            <a:ext cx="2103120" cy="475488"/>
          </a:xfrm>
          <a:prstGeom prst="rect">
            <a:avLst/>
          </a:prstGeom>
          <a:noFill/>
          <a:ln/>
        </p:spPr>
        <p:txBody>
          <a:bodyPr wrap="square" lIns="0" tIns="0" rIns="0" bIns="0" rtlCol="0" anchor="ctr"/>
          <a:lstStyle/>
          <a:p>
            <a:pPr indent="0" marL="0">
              <a:buNone/>
            </a:pPr>
            <a:r>
              <a:rPr lang="en-US" sz="1300" b="1" dirty="0">
                <a:solidFill>
                  <a:srgbClr val="EFF1F3"/>
                </a:solidFill>
                <a:latin typeface="Arial" pitchFamily="34" charset="0"/>
                <a:ea typeface="Arial" pitchFamily="34" charset="-122"/>
                <a:cs typeface="Arial" pitchFamily="34" charset="-120"/>
              </a:rPr>
              <a:t>Al-Quran</a:t>
            </a:r>
            <a:endParaRPr lang="en-US" sz="1300" dirty="0"/>
          </a:p>
        </p:txBody>
      </p:sp>
      <p:sp>
        <p:nvSpPr>
          <p:cNvPr id="16" name="Shape 13"/>
          <p:cNvSpPr/>
          <p:nvPr/>
        </p:nvSpPr>
        <p:spPr>
          <a:xfrm>
            <a:off x="7543800" y="3026664"/>
            <a:ext cx="0" cy="182880"/>
          </a:xfrm>
          <a:prstGeom prst="line">
            <a:avLst/>
          </a:prstGeom>
          <a:noFill/>
          <a:ln w="25400">
            <a:solidFill>
              <a:srgbClr val="CC7722"/>
            </a:solidFill>
            <a:prstDash val="solid"/>
          </a:ln>
        </p:spPr>
      </p:sp>
      <p:sp>
        <p:nvSpPr>
          <p:cNvPr id="17" name="Shape 14"/>
          <p:cNvSpPr/>
          <p:nvPr/>
        </p:nvSpPr>
        <p:spPr>
          <a:xfrm>
            <a:off x="6400800" y="3209544"/>
            <a:ext cx="2286000" cy="475488"/>
          </a:xfrm>
          <a:prstGeom prst="roundRect">
            <a:avLst>
              <a:gd name="adj" fmla="val 19231"/>
            </a:avLst>
          </a:prstGeom>
          <a:solidFill>
            <a:srgbClr val="FFFFFF">
              <a:alpha val="12000"/>
            </a:srgbClr>
          </a:solidFill>
          <a:ln w="12700">
            <a:solidFill>
              <a:srgbClr val="CC7722"/>
            </a:solidFill>
            <a:prstDash val="solid"/>
          </a:ln>
        </p:spPr>
      </p:sp>
      <p:sp>
        <p:nvSpPr>
          <p:cNvPr id="18" name="Text 15"/>
          <p:cNvSpPr txBox="1"/>
          <p:nvPr/>
        </p:nvSpPr>
        <p:spPr>
          <a:xfrm>
            <a:off x="6492240" y="3209544"/>
            <a:ext cx="2103120" cy="475488"/>
          </a:xfrm>
          <a:prstGeom prst="rect">
            <a:avLst/>
          </a:prstGeom>
          <a:noFill/>
          <a:ln/>
        </p:spPr>
        <p:txBody>
          <a:bodyPr wrap="square" lIns="0" tIns="0" rIns="0" bIns="0" rtlCol="0" anchor="ctr"/>
          <a:lstStyle/>
          <a:p>
            <a:pPr indent="0" marL="0">
              <a:buNone/>
            </a:pPr>
            <a:r>
              <a:rPr lang="en-US" sz="1300" b="1" dirty="0">
                <a:solidFill>
                  <a:srgbClr val="EFF1F3"/>
                </a:solidFill>
                <a:latin typeface="Arial" pitchFamily="34" charset="0"/>
                <a:ea typeface="Arial" pitchFamily="34" charset="-122"/>
                <a:cs typeface="Arial" pitchFamily="34" charset="-120"/>
              </a:rPr>
              <a:t>Manajemen</a:t>
            </a:r>
            <a:endParaRPr lang="en-US" sz="1300" dirty="0"/>
          </a:p>
        </p:txBody>
      </p:sp>
      <p:pic>
        <p:nvPicPr>
          <p:cNvPr id="19" name="Image 1" descr="img/man_walk.png">    </p:cNvPr>
          <p:cNvPicPr>
            <a:picLocks noChangeAspect="1"/>
          </p:cNvPicPr>
          <p:nvPr/>
        </p:nvPicPr>
        <p:blipFill>
          <a:blip r:embed="rId3"/>
          <a:stretch>
            <a:fillRect/>
          </a:stretch>
        </p:blipFill>
        <p:spPr>
          <a:xfrm>
            <a:off x="5852160" y="4114800"/>
            <a:ext cx="64008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200" b="1" dirty="0">
                <a:solidFill>
                  <a:srgbClr val="EFF1F3"/>
                </a:solidFill>
                <a:latin typeface="Arial" pitchFamily="34" charset="0"/>
                <a:ea typeface="Arial" pitchFamily="34" charset="-122"/>
                <a:cs typeface="Arial" pitchFamily="34" charset="-120"/>
              </a:rPr>
              <a:t>Mutu guru bukan hanya persoalan individu</a:t>
            </a:r>
            <a:endParaRPr lang="en-US" sz="2200" dirty="0"/>
          </a:p>
        </p:txBody>
      </p:sp>
      <p:sp>
        <p:nvSpPr>
          <p:cNvPr id="5" name="Shape 2"/>
          <p:cNvSpPr/>
          <p:nvPr/>
        </p:nvSpPr>
        <p:spPr>
          <a:xfrm>
            <a:off x="457200" y="1188720"/>
            <a:ext cx="2011680" cy="2743200"/>
          </a:xfrm>
          <a:prstGeom prst="roundRect">
            <a:avLst>
              <a:gd name="adj" fmla="val 4545"/>
            </a:avLst>
          </a:prstGeom>
          <a:solidFill>
            <a:srgbClr val="FFFFFF">
              <a:alpha val="10000"/>
            </a:srgbClr>
          </a:solidFill>
          <a:ln w="9525">
            <a:solidFill>
              <a:srgbClr val="EFF1F3">
                <a:alpha val="25000"/>
              </a:srgbClr>
            </a:solidFill>
            <a:prstDash val="solid"/>
          </a:ln>
        </p:spPr>
      </p:sp>
      <p:sp>
        <p:nvSpPr>
          <p:cNvPr id="6" name="Text 3"/>
          <p:cNvSpPr txBox="1"/>
          <p:nvPr/>
        </p:nvSpPr>
        <p:spPr>
          <a:xfrm>
            <a:off x="512064" y="1225296"/>
            <a:ext cx="1901952" cy="2670048"/>
          </a:xfrm>
          <a:prstGeom prst="rect">
            <a:avLst/>
          </a:prstGeom>
          <a:noFill/>
          <a:ln/>
        </p:spPr>
        <p:txBody>
          <a:bodyPr wrap="square" lIns="508" tIns="762" rIns="762" bIns="508" rtlCol="0" anchor="t"/>
          <a:lstStyle/>
          <a:p>
            <a:pPr indent="0" marL="0">
              <a:spcAft>
                <a:spcPts val="200"/>
              </a:spcAft>
              <a:buNone/>
            </a:pPr>
            <a:r>
              <a:rPr lang="en-US" sz="1300" b="1" dirty="0">
                <a:solidFill>
                  <a:srgbClr val="EFF1F3"/>
                </a:solidFill>
                <a:latin typeface="Arial" pitchFamily="34" charset="0"/>
                <a:ea typeface="Arial" pitchFamily="34" charset="-122"/>
                <a:cs typeface="Arial" pitchFamily="34" charset="-120"/>
              </a:rPr>
              <a:t>Ideal</a:t>
            </a:r>
            <a:endParaRPr lang="en-US" sz="13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Guru adalah pewaris misi para nabi. Pendidikan mencakup karakter, penyucian jiwa, dan kedewasaan moral, bukan hanya pemindahan pengetahuan.</a:t>
            </a:r>
            <a:endParaRPr lang="en-US" sz="13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(Azizah dkk., 2025; Madyan dkk., 2026)</a:t>
            </a:r>
            <a:endParaRPr lang="en-US" sz="1300" dirty="0"/>
          </a:p>
        </p:txBody>
      </p:sp>
      <p:sp>
        <p:nvSpPr>
          <p:cNvPr id="7" name="Shape 4"/>
          <p:cNvSpPr/>
          <p:nvPr/>
        </p:nvSpPr>
        <p:spPr>
          <a:xfrm>
            <a:off x="2578608" y="1188720"/>
            <a:ext cx="2011680" cy="2743200"/>
          </a:xfrm>
          <a:prstGeom prst="roundRect">
            <a:avLst>
              <a:gd name="adj" fmla="val 4545"/>
            </a:avLst>
          </a:prstGeom>
          <a:solidFill>
            <a:srgbClr val="FFFFFF">
              <a:alpha val="10000"/>
            </a:srgbClr>
          </a:solidFill>
          <a:ln w="9525">
            <a:solidFill>
              <a:srgbClr val="EFF1F3">
                <a:alpha val="25000"/>
              </a:srgbClr>
            </a:solidFill>
            <a:prstDash val="solid"/>
          </a:ln>
        </p:spPr>
      </p:sp>
      <p:sp>
        <p:nvSpPr>
          <p:cNvPr id="8" name="Text 5"/>
          <p:cNvSpPr txBox="1"/>
          <p:nvPr/>
        </p:nvSpPr>
        <p:spPr>
          <a:xfrm>
            <a:off x="2633472" y="1225296"/>
            <a:ext cx="1901952" cy="2670048"/>
          </a:xfrm>
          <a:prstGeom prst="rect">
            <a:avLst/>
          </a:prstGeom>
          <a:noFill/>
          <a:ln/>
        </p:spPr>
        <p:txBody>
          <a:bodyPr wrap="square" lIns="508" tIns="762" rIns="762" bIns="508" rtlCol="0" anchor="t"/>
          <a:lstStyle/>
          <a:p>
            <a:pPr indent="0" marL="0">
              <a:spcAft>
                <a:spcPts val="200"/>
              </a:spcAft>
              <a:buNone/>
            </a:pPr>
            <a:r>
              <a:rPr lang="en-US" sz="1300" b="1" dirty="0">
                <a:solidFill>
                  <a:srgbClr val="EFF1F3"/>
                </a:solidFill>
                <a:latin typeface="Arial" pitchFamily="34" charset="0"/>
                <a:ea typeface="Arial" pitchFamily="34" charset="-122"/>
                <a:cs typeface="Arial" pitchFamily="34" charset="-120"/>
              </a:rPr>
              <a:t>Realitas</a:t>
            </a:r>
            <a:endParaRPr lang="en-US" sz="13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Kualifikasi pendidik kerap berhenti pada aspek administratif, dan pengembangan profesional tidak terencana. Sebuah kegiatan pengabdian melaporkan sekitar 40 persen pendidik rutin mengikuti pelatihan; angka lokal ini dibaca sebagai ilustrasi.</a:t>
            </a:r>
            <a:endParaRPr lang="en-US" sz="13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(Hidayah &amp; Romlah, 2022; Fitri, 2025; Fahmi dkk., 2025)</a:t>
            </a:r>
            <a:endParaRPr lang="en-US" sz="1300" dirty="0"/>
          </a:p>
        </p:txBody>
      </p:sp>
      <p:sp>
        <p:nvSpPr>
          <p:cNvPr id="9" name="Shape 6"/>
          <p:cNvSpPr/>
          <p:nvPr/>
        </p:nvSpPr>
        <p:spPr>
          <a:xfrm>
            <a:off x="4700016" y="1188720"/>
            <a:ext cx="2011680" cy="2743200"/>
          </a:xfrm>
          <a:prstGeom prst="roundRect">
            <a:avLst>
              <a:gd name="adj" fmla="val 4545"/>
            </a:avLst>
          </a:prstGeom>
          <a:solidFill>
            <a:srgbClr val="FFFFFF">
              <a:alpha val="10000"/>
            </a:srgbClr>
          </a:solidFill>
          <a:ln w="9525">
            <a:solidFill>
              <a:srgbClr val="EFF1F3">
                <a:alpha val="25000"/>
              </a:srgbClr>
            </a:solidFill>
            <a:prstDash val="solid"/>
          </a:ln>
        </p:spPr>
      </p:sp>
      <p:sp>
        <p:nvSpPr>
          <p:cNvPr id="10" name="Text 7"/>
          <p:cNvSpPr txBox="1"/>
          <p:nvPr/>
        </p:nvSpPr>
        <p:spPr>
          <a:xfrm>
            <a:off x="4754880" y="1225296"/>
            <a:ext cx="1901952" cy="2670048"/>
          </a:xfrm>
          <a:prstGeom prst="rect">
            <a:avLst/>
          </a:prstGeom>
          <a:noFill/>
          <a:ln/>
        </p:spPr>
        <p:txBody>
          <a:bodyPr wrap="square" lIns="508" tIns="762" rIns="762" bIns="508" rtlCol="0" anchor="t"/>
          <a:lstStyle/>
          <a:p>
            <a:pPr indent="0" marL="0">
              <a:spcAft>
                <a:spcPts val="200"/>
              </a:spcAft>
              <a:buNone/>
            </a:pPr>
            <a:r>
              <a:rPr lang="en-US" sz="1300" b="1" dirty="0">
                <a:solidFill>
                  <a:srgbClr val="EFF1F3"/>
                </a:solidFill>
                <a:latin typeface="Arial" pitchFamily="34" charset="0"/>
                <a:ea typeface="Arial" pitchFamily="34" charset="-122"/>
                <a:cs typeface="Arial" pitchFamily="34" charset="-120"/>
              </a:rPr>
              <a:t>Masalah</a:t>
            </a:r>
            <a:endParaRPr lang="en-US" sz="13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Literasi digital, etos kerja, dan orientasi capaian kognitif semata membuat guru mudah terjebak rutinitas mekanistik.</a:t>
            </a:r>
            <a:endParaRPr lang="en-US" sz="13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(Prasetiya, 2025; Habib dkk., 2025; Bahraini dkk., 2023)</a:t>
            </a:r>
            <a:endParaRPr lang="en-US" sz="1300" dirty="0"/>
          </a:p>
        </p:txBody>
      </p:sp>
      <p:sp>
        <p:nvSpPr>
          <p:cNvPr id="11" name="Shape 8"/>
          <p:cNvSpPr/>
          <p:nvPr/>
        </p:nvSpPr>
        <p:spPr>
          <a:xfrm>
            <a:off x="6821424" y="1188720"/>
            <a:ext cx="2011680" cy="2743200"/>
          </a:xfrm>
          <a:prstGeom prst="roundRect">
            <a:avLst>
              <a:gd name="adj" fmla="val 4545"/>
            </a:avLst>
          </a:prstGeom>
          <a:solidFill>
            <a:srgbClr val="CC7722">
              <a:alpha val="55000"/>
            </a:srgbClr>
          </a:solidFill>
          <a:ln w="9525">
            <a:solidFill>
              <a:srgbClr val="F0B060"/>
            </a:solidFill>
            <a:prstDash val="solid"/>
          </a:ln>
        </p:spPr>
      </p:sp>
      <p:sp>
        <p:nvSpPr>
          <p:cNvPr id="12" name="Text 9"/>
          <p:cNvSpPr txBox="1"/>
          <p:nvPr/>
        </p:nvSpPr>
        <p:spPr>
          <a:xfrm>
            <a:off x="6876288" y="1225296"/>
            <a:ext cx="1901952" cy="2670048"/>
          </a:xfrm>
          <a:prstGeom prst="rect">
            <a:avLst/>
          </a:prstGeom>
          <a:noFill/>
          <a:ln/>
        </p:spPr>
        <p:txBody>
          <a:bodyPr wrap="square" lIns="508" tIns="762" rIns="762" bIns="508" rtlCol="0" anchor="t"/>
          <a:lstStyle/>
          <a:p>
            <a:pPr indent="0" marL="0">
              <a:spcAft>
                <a:spcPts val="200"/>
              </a:spcAft>
              <a:buNone/>
            </a:pPr>
            <a:r>
              <a:rPr lang="en-US" sz="1300" b="1" dirty="0">
                <a:solidFill>
                  <a:srgbClr val="EFF1F3"/>
                </a:solidFill>
                <a:latin typeface="Arial" pitchFamily="34" charset="0"/>
                <a:ea typeface="Arial" pitchFamily="34" charset="-122"/>
                <a:cs typeface="Arial" pitchFamily="34" charset="-120"/>
              </a:rPr>
              <a:t>Diagnosis</a:t>
            </a:r>
            <a:endParaRPr lang="en-US" sz="13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Masalahnya tidak semata pada individu guru, tetapi juga pada cara lembaga mengelola guru.</a:t>
            </a:r>
            <a:endParaRPr lang="en-US" sz="13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(Jamalulel dkk., 2024)</a:t>
            </a:r>
            <a:endParaRPr lang="en-US" sz="1300" dirty="0"/>
          </a:p>
        </p:txBody>
      </p:sp>
      <p:pic>
        <p:nvPicPr>
          <p:cNvPr id="13" name="Image 1" descr="img/man_think.png">    </p:cNvPr>
          <p:cNvPicPr>
            <a:picLocks noChangeAspect="1"/>
          </p:cNvPicPr>
          <p:nvPr/>
        </p:nvPicPr>
        <p:blipFill>
          <a:blip r:embed="rId3"/>
          <a:stretch>
            <a:fillRect/>
          </a:stretch>
        </p:blipFill>
        <p:spPr>
          <a:xfrm>
            <a:off x="7863840" y="4206240"/>
            <a:ext cx="64008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200" b="1" dirty="0">
                <a:solidFill>
                  <a:srgbClr val="EFF1F3"/>
                </a:solidFill>
                <a:latin typeface="Arial" pitchFamily="34" charset="0"/>
                <a:ea typeface="Arial" pitchFamily="34" charset="-122"/>
                <a:cs typeface="Arial" pitchFamily="34" charset="-120"/>
              </a:rPr>
              <a:t>Dari celah kajian menuju tiga pertanyaan</a:t>
            </a:r>
            <a:endParaRPr lang="en-US" sz="2200" dirty="0"/>
          </a:p>
        </p:txBody>
      </p:sp>
      <p:sp>
        <p:nvSpPr>
          <p:cNvPr id="5" name="Shape 2"/>
          <p:cNvSpPr/>
          <p:nvPr/>
        </p:nvSpPr>
        <p:spPr>
          <a:xfrm>
            <a:off x="457200" y="1097280"/>
            <a:ext cx="4023360" cy="1417320"/>
          </a:xfrm>
          <a:prstGeom prst="roundRect">
            <a:avLst>
              <a:gd name="adj" fmla="val 6452"/>
            </a:avLst>
          </a:prstGeom>
          <a:solidFill>
            <a:srgbClr val="FFFFFF">
              <a:alpha val="10000"/>
            </a:srgbClr>
          </a:solidFill>
          <a:ln w="9525">
            <a:solidFill>
              <a:srgbClr val="EFF1F3">
                <a:alpha val="25000"/>
              </a:srgbClr>
            </a:solidFill>
            <a:prstDash val="solid"/>
          </a:ln>
        </p:spPr>
      </p:sp>
      <p:sp>
        <p:nvSpPr>
          <p:cNvPr id="6" name="Text 3"/>
          <p:cNvSpPr txBox="1"/>
          <p:nvPr/>
        </p:nvSpPr>
        <p:spPr>
          <a:xfrm>
            <a:off x="512064" y="1133856"/>
            <a:ext cx="3913632" cy="1344168"/>
          </a:xfrm>
          <a:prstGeom prst="rect">
            <a:avLst/>
          </a:prstGeom>
          <a:noFill/>
          <a:ln/>
        </p:spPr>
        <p:txBody>
          <a:bodyPr wrap="square" lIns="508" tIns="762" rIns="762" bIns="508" rtlCol="0" anchor="t"/>
          <a:lstStyle/>
          <a:p>
            <a:pPr indent="0" marL="0">
              <a:spcAft>
                <a:spcPts val="200"/>
              </a:spcAft>
              <a:buNone/>
            </a:pPr>
            <a:r>
              <a:rPr lang="en-US" sz="1150" b="1" dirty="0">
                <a:solidFill>
                  <a:srgbClr val="EFF1F3"/>
                </a:solidFill>
                <a:latin typeface="Arial" pitchFamily="34" charset="0"/>
                <a:ea typeface="Arial" pitchFamily="34" charset="-122"/>
                <a:cs typeface="Arial" pitchFamily="34" charset="-120"/>
              </a:rPr>
              <a:t>Kajian sebelumnya</a:t>
            </a:r>
            <a:endParaRPr lang="en-US" sz="115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Azizah dkk. (2025) menelaah kompetensi pedagogik dalam ayat tersebut. Hidayah &amp; Romlah (2022) membandingkan kompetensi guru PAI menurut UU No. 14 Tahun 2005 dengan ayat yang sama. Lestari dkk. (2026) mengaitkan kompetensi pedagogik dengan manajemen pengembangannya.</a:t>
            </a:r>
            <a:endParaRPr lang="en-US" sz="1150" dirty="0"/>
          </a:p>
        </p:txBody>
      </p:sp>
      <p:sp>
        <p:nvSpPr>
          <p:cNvPr id="7" name="Shape 4"/>
          <p:cNvSpPr/>
          <p:nvPr/>
        </p:nvSpPr>
        <p:spPr>
          <a:xfrm>
            <a:off x="457200" y="2606040"/>
            <a:ext cx="4023360" cy="914400"/>
          </a:xfrm>
          <a:prstGeom prst="roundRect">
            <a:avLst>
              <a:gd name="adj" fmla="val 10000"/>
            </a:avLst>
          </a:prstGeom>
          <a:solidFill>
            <a:srgbClr val="CC7722">
              <a:alpha val="55000"/>
            </a:srgbClr>
          </a:solidFill>
          <a:ln w="9525">
            <a:solidFill>
              <a:srgbClr val="F0B060"/>
            </a:solidFill>
            <a:prstDash val="solid"/>
          </a:ln>
        </p:spPr>
      </p:sp>
      <p:sp>
        <p:nvSpPr>
          <p:cNvPr id="8" name="Text 5"/>
          <p:cNvSpPr txBox="1"/>
          <p:nvPr/>
        </p:nvSpPr>
        <p:spPr>
          <a:xfrm>
            <a:off x="512064" y="2642616"/>
            <a:ext cx="3913632" cy="841248"/>
          </a:xfrm>
          <a:prstGeom prst="rect">
            <a:avLst/>
          </a:prstGeom>
          <a:noFill/>
          <a:ln/>
        </p:spPr>
        <p:txBody>
          <a:bodyPr wrap="square" lIns="508" tIns="762" rIns="762" bIns="508" rtlCol="0" anchor="t"/>
          <a:lstStyle/>
          <a:p>
            <a:pPr indent="0" marL="0">
              <a:spcAft>
                <a:spcPts val="200"/>
              </a:spcAft>
              <a:buNone/>
            </a:pPr>
            <a:r>
              <a:rPr lang="en-US" sz="1150" b="1" dirty="0">
                <a:solidFill>
                  <a:srgbClr val="EFF1F3"/>
                </a:solidFill>
                <a:latin typeface="Arial" pitchFamily="34" charset="0"/>
                <a:ea typeface="Arial" pitchFamily="34" charset="-122"/>
                <a:cs typeface="Arial" pitchFamily="34" charset="-120"/>
              </a:rPr>
              <a:t>Celah</a:t>
            </a:r>
            <a:endParaRPr lang="en-US" sz="115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Semuanya berfokus pada satu kompetensi atau perbandingan normatif. Pemetaan tiga fungsi kenabian ke empat kompetensi sekaligus, lalu ke seluruh siklus manajemen SDM, belum tampak.</a:t>
            </a:r>
            <a:endParaRPr lang="en-US" sz="1150" dirty="0"/>
          </a:p>
        </p:txBody>
      </p:sp>
      <p:sp>
        <p:nvSpPr>
          <p:cNvPr id="9" name="Shape 6"/>
          <p:cNvSpPr/>
          <p:nvPr/>
        </p:nvSpPr>
        <p:spPr>
          <a:xfrm>
            <a:off x="457200" y="3611880"/>
            <a:ext cx="4023360" cy="685800"/>
          </a:xfrm>
          <a:prstGeom prst="roundRect">
            <a:avLst>
              <a:gd name="adj" fmla="val 13333"/>
            </a:avLst>
          </a:prstGeom>
          <a:solidFill>
            <a:srgbClr val="FFFFFF">
              <a:alpha val="10000"/>
            </a:srgbClr>
          </a:solidFill>
          <a:ln w="9525">
            <a:solidFill>
              <a:srgbClr val="EFF1F3">
                <a:alpha val="25000"/>
              </a:srgbClr>
            </a:solidFill>
            <a:prstDash val="solid"/>
          </a:ln>
        </p:spPr>
      </p:sp>
      <p:sp>
        <p:nvSpPr>
          <p:cNvPr id="10" name="Text 7"/>
          <p:cNvSpPr txBox="1"/>
          <p:nvPr/>
        </p:nvSpPr>
        <p:spPr>
          <a:xfrm>
            <a:off x="512064" y="3648456"/>
            <a:ext cx="3913632" cy="612648"/>
          </a:xfrm>
          <a:prstGeom prst="rect">
            <a:avLst/>
          </a:prstGeom>
          <a:noFill/>
          <a:ln/>
        </p:spPr>
        <p:txBody>
          <a:bodyPr wrap="square" lIns="508" tIns="762" rIns="762" bIns="508" rtlCol="0" anchor="t"/>
          <a:lstStyle/>
          <a:p>
            <a:pPr indent="0" marL="0">
              <a:spcAft>
                <a:spcPts val="200"/>
              </a:spcAft>
              <a:buNone/>
            </a:pPr>
            <a:r>
              <a:rPr lang="en-US" sz="1150" b="1" dirty="0">
                <a:solidFill>
                  <a:srgbClr val="EFF1F3"/>
                </a:solidFill>
                <a:latin typeface="Arial" pitchFamily="34" charset="0"/>
                <a:ea typeface="Arial" pitchFamily="34" charset="-122"/>
                <a:cs typeface="Arial" pitchFamily="34" charset="-120"/>
              </a:rPr>
              <a:t>Makalah ini</a:t>
            </a:r>
            <a:endParaRPr lang="en-US" sz="1150" dirty="0"/>
          </a:p>
          <a:p>
            <a:pPr indent="0" marL="0">
              <a:spcAft>
                <a:spcPts val="200"/>
              </a:spcAft>
              <a:buNone/>
            </a:pPr>
            <a:r>
              <a:rPr lang="en-US" sz="900" dirty="0">
                <a:solidFill>
                  <a:srgbClr val="EFF1F3"/>
                </a:solidFill>
                <a:latin typeface="Arial" pitchFamily="34" charset="0"/>
                <a:ea typeface="Arial" pitchFamily="34" charset="-122"/>
                <a:cs typeface="Arial" pitchFamily="34" charset="-120"/>
              </a:rPr>
              <a:t>Kualitatif kepustakaan, tafsir tematik (maudhu'i) dengan perbandingan antarmufasir (muqaran).</a:t>
            </a:r>
            <a:endParaRPr lang="en-US" sz="1150" dirty="0"/>
          </a:p>
        </p:txBody>
      </p:sp>
      <p:sp>
        <p:nvSpPr>
          <p:cNvPr id="11" name="Shape 8"/>
          <p:cNvSpPr/>
          <p:nvPr/>
        </p:nvSpPr>
        <p:spPr>
          <a:xfrm>
            <a:off x="4709160" y="1097280"/>
            <a:ext cx="3977640" cy="987552"/>
          </a:xfrm>
          <a:prstGeom prst="roundRect">
            <a:avLst>
              <a:gd name="adj" fmla="val 9259"/>
            </a:avLst>
          </a:prstGeom>
          <a:solidFill>
            <a:srgbClr val="FFFFFF">
              <a:alpha val="10000"/>
            </a:srgbClr>
          </a:solidFill>
          <a:ln w="9525">
            <a:solidFill>
              <a:srgbClr val="EFF1F3">
                <a:alpha val="25000"/>
              </a:srgbClr>
            </a:solidFill>
            <a:prstDash val="solid"/>
          </a:ln>
        </p:spPr>
      </p:sp>
      <p:sp>
        <p:nvSpPr>
          <p:cNvPr id="12" name="Text 9"/>
          <p:cNvSpPr txBox="1"/>
          <p:nvPr/>
        </p:nvSpPr>
        <p:spPr>
          <a:xfrm>
            <a:off x="4764024" y="1133856"/>
            <a:ext cx="3867912" cy="914400"/>
          </a:xfrm>
          <a:prstGeom prst="rect">
            <a:avLst/>
          </a:prstGeom>
          <a:noFill/>
          <a:ln/>
        </p:spPr>
        <p:txBody>
          <a:bodyPr wrap="square" lIns="508" tIns="762" rIns="762" bIns="508" rtlCol="0" anchor="t"/>
          <a:lstStyle/>
          <a:p>
            <a:pPr indent="0" marL="0">
              <a:spcAft>
                <a:spcPts val="200"/>
              </a:spcAft>
              <a:buNone/>
            </a:pPr>
            <a:r>
              <a:rPr lang="en-US" sz="1150" b="1" dirty="0">
                <a:solidFill>
                  <a:srgbClr val="EFF1F3"/>
                </a:solidFill>
                <a:latin typeface="Arial" pitchFamily="34" charset="0"/>
                <a:ea typeface="Arial" pitchFamily="34" charset="-122"/>
                <a:cs typeface="Arial" pitchFamily="34" charset="-120"/>
              </a:rPr>
              <a:t>1.</a:t>
            </a:r>
            <a:endParaRPr lang="en-US" sz="115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Bagaimana para mufasir memaknai tilawah, tazkiyah, dan ta'lim al-kitab wa al-hikmah dalam QS Al-Jumu'ah ayat 2 dan ayat pendampingnya?</a:t>
            </a:r>
            <a:endParaRPr lang="en-US" sz="1150" dirty="0"/>
          </a:p>
        </p:txBody>
      </p:sp>
      <p:sp>
        <p:nvSpPr>
          <p:cNvPr id="13" name="Shape 10"/>
          <p:cNvSpPr/>
          <p:nvPr/>
        </p:nvSpPr>
        <p:spPr>
          <a:xfrm>
            <a:off x="4709160" y="2194560"/>
            <a:ext cx="3977640" cy="987552"/>
          </a:xfrm>
          <a:prstGeom prst="roundRect">
            <a:avLst>
              <a:gd name="adj" fmla="val 9259"/>
            </a:avLst>
          </a:prstGeom>
          <a:solidFill>
            <a:srgbClr val="FFFFFF">
              <a:alpha val="10000"/>
            </a:srgbClr>
          </a:solidFill>
          <a:ln w="9525">
            <a:solidFill>
              <a:srgbClr val="EFF1F3">
                <a:alpha val="25000"/>
              </a:srgbClr>
            </a:solidFill>
            <a:prstDash val="solid"/>
          </a:ln>
        </p:spPr>
      </p:sp>
      <p:sp>
        <p:nvSpPr>
          <p:cNvPr id="14" name="Text 11"/>
          <p:cNvSpPr txBox="1"/>
          <p:nvPr/>
        </p:nvSpPr>
        <p:spPr>
          <a:xfrm>
            <a:off x="4764024" y="2231136"/>
            <a:ext cx="3867912" cy="914400"/>
          </a:xfrm>
          <a:prstGeom prst="rect">
            <a:avLst/>
          </a:prstGeom>
          <a:noFill/>
          <a:ln/>
        </p:spPr>
        <p:txBody>
          <a:bodyPr wrap="square" lIns="508" tIns="762" rIns="762" bIns="508" rtlCol="0" anchor="t"/>
          <a:lstStyle/>
          <a:p>
            <a:pPr indent="0" marL="0">
              <a:spcAft>
                <a:spcPts val="200"/>
              </a:spcAft>
              <a:buNone/>
            </a:pPr>
            <a:r>
              <a:rPr lang="en-US" sz="1150" b="1" dirty="0">
                <a:solidFill>
                  <a:srgbClr val="EFF1F3"/>
                </a:solidFill>
                <a:latin typeface="Arial" pitchFamily="34" charset="0"/>
                <a:ea typeface="Arial" pitchFamily="34" charset="-122"/>
                <a:cs typeface="Arial" pitchFamily="34" charset="-120"/>
              </a:rPr>
              <a:t>2.</a:t>
            </a:r>
            <a:endParaRPr lang="en-US" sz="115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Bagaimana ketiga fungsi itu terpetakan pada empat kompetensi guru?</a:t>
            </a:r>
            <a:endParaRPr lang="en-US" sz="1150" dirty="0"/>
          </a:p>
        </p:txBody>
      </p:sp>
      <p:sp>
        <p:nvSpPr>
          <p:cNvPr id="15" name="Shape 12"/>
          <p:cNvSpPr/>
          <p:nvPr/>
        </p:nvSpPr>
        <p:spPr>
          <a:xfrm>
            <a:off x="4709160" y="3291840"/>
            <a:ext cx="3977640" cy="987552"/>
          </a:xfrm>
          <a:prstGeom prst="roundRect">
            <a:avLst>
              <a:gd name="adj" fmla="val 9259"/>
            </a:avLst>
          </a:prstGeom>
          <a:solidFill>
            <a:srgbClr val="FFFFFF">
              <a:alpha val="10000"/>
            </a:srgbClr>
          </a:solidFill>
          <a:ln w="9525">
            <a:solidFill>
              <a:srgbClr val="EFF1F3">
                <a:alpha val="25000"/>
              </a:srgbClr>
            </a:solidFill>
            <a:prstDash val="solid"/>
          </a:ln>
        </p:spPr>
      </p:sp>
      <p:sp>
        <p:nvSpPr>
          <p:cNvPr id="16" name="Text 13"/>
          <p:cNvSpPr txBox="1"/>
          <p:nvPr/>
        </p:nvSpPr>
        <p:spPr>
          <a:xfrm>
            <a:off x="4764024" y="3328416"/>
            <a:ext cx="3867912" cy="914400"/>
          </a:xfrm>
          <a:prstGeom prst="rect">
            <a:avLst/>
          </a:prstGeom>
          <a:noFill/>
          <a:ln/>
        </p:spPr>
        <p:txBody>
          <a:bodyPr wrap="square" lIns="508" tIns="762" rIns="762" bIns="508" rtlCol="0" anchor="t"/>
          <a:lstStyle/>
          <a:p>
            <a:pPr indent="0" marL="0">
              <a:spcAft>
                <a:spcPts val="200"/>
              </a:spcAft>
              <a:buNone/>
            </a:pPr>
            <a:r>
              <a:rPr lang="en-US" sz="1150" b="1" dirty="0">
                <a:solidFill>
                  <a:srgbClr val="EFF1F3"/>
                </a:solidFill>
                <a:latin typeface="Arial" pitchFamily="34" charset="0"/>
                <a:ea typeface="Arial" pitchFamily="34" charset="-122"/>
                <a:cs typeface="Arial" pitchFamily="34" charset="-120"/>
              </a:rPr>
              <a:t>3.</a:t>
            </a:r>
            <a:endParaRPr lang="en-US" sz="115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Bagaimana pemetaan tersebut dioperasionalkan dalam fungsi-fungsi manajemen SDM di lembaga pendidikan Islam?</a:t>
            </a:r>
            <a:endParaRPr lang="en-US" sz="1150" dirty="0"/>
          </a:p>
        </p:txBody>
      </p:sp>
      <p:pic>
        <p:nvPicPr>
          <p:cNvPr id="17" name="Image 1" descr="img/man_think.png">    </p:cNvPr>
          <p:cNvPicPr>
            <a:picLocks noChangeAspect="1"/>
          </p:cNvPicPr>
          <p:nvPr/>
        </p:nvPicPr>
        <p:blipFill>
          <a:blip r:embed="rId3"/>
          <a:stretch>
            <a:fillRect/>
          </a:stretch>
        </p:blipFill>
        <p:spPr>
          <a:xfrm>
            <a:off x="7863840" y="4206240"/>
            <a:ext cx="64008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200" b="1" dirty="0">
                <a:solidFill>
                  <a:srgbClr val="EFF1F3"/>
                </a:solidFill>
                <a:latin typeface="Arial" pitchFamily="34" charset="0"/>
                <a:ea typeface="Arial" pitchFamily="34" charset="-122"/>
                <a:cs typeface="Arial" pitchFamily="34" charset="-120"/>
              </a:rPr>
              <a:t>Landasan ayat: empat ayat, satu tema</a:t>
            </a:r>
            <a:endParaRPr lang="en-US" sz="2200" dirty="0"/>
          </a:p>
        </p:txBody>
      </p:sp>
      <p:sp>
        <p:nvSpPr>
          <p:cNvPr id="5" name="Text 2"/>
          <p:cNvSpPr txBox="1"/>
          <p:nvPr/>
        </p:nvSpPr>
        <p:spPr>
          <a:xfrm>
            <a:off x="960120" y="868680"/>
            <a:ext cx="5486400" cy="274320"/>
          </a:xfrm>
          <a:prstGeom prst="rect">
            <a:avLst/>
          </a:prstGeom>
          <a:noFill/>
          <a:ln/>
        </p:spPr>
        <p:txBody>
          <a:bodyPr wrap="square" lIns="0" tIns="0" rIns="0" bIns="0" rtlCol="0" anchor="ctr"/>
          <a:lstStyle/>
          <a:p>
            <a:pPr indent="0" marL="0">
              <a:buNone/>
            </a:pPr>
            <a:r>
              <a:rPr lang="en-US" sz="1200" dirty="0">
                <a:solidFill>
                  <a:srgbClr val="F0B060"/>
                </a:solidFill>
                <a:latin typeface="Arial" pitchFamily="34" charset="0"/>
                <a:ea typeface="Arial" pitchFamily="34" charset="-122"/>
                <a:cs typeface="Arial" pitchFamily="34" charset="-120"/>
              </a:rPr>
              <a:t>Tugas kenabian sebagai pendidik</a:t>
            </a:r>
            <a:endParaRPr lang="en-US" sz="1200" dirty="0"/>
          </a:p>
        </p:txBody>
      </p:sp>
      <p:sp>
        <p:nvSpPr>
          <p:cNvPr id="6" name="Shape 3"/>
          <p:cNvSpPr/>
          <p:nvPr/>
        </p:nvSpPr>
        <p:spPr>
          <a:xfrm>
            <a:off x="457200" y="1188720"/>
            <a:ext cx="8229600" cy="2057400"/>
          </a:xfrm>
          <a:prstGeom prst="roundRect">
            <a:avLst>
              <a:gd name="adj" fmla="val 5333"/>
            </a:avLst>
          </a:prstGeom>
          <a:solidFill>
            <a:srgbClr val="FFFFFF">
              <a:alpha val="10000"/>
            </a:srgbClr>
          </a:solidFill>
          <a:ln w="9525">
            <a:solidFill>
              <a:srgbClr val="EFF1F3">
                <a:alpha val="25000"/>
              </a:srgbClr>
            </a:solidFill>
            <a:prstDash val="solid"/>
          </a:ln>
        </p:spPr>
      </p:sp>
      <p:sp>
        <p:nvSpPr>
          <p:cNvPr id="7" name="Text 4"/>
          <p:cNvSpPr txBox="1"/>
          <p:nvPr/>
        </p:nvSpPr>
        <p:spPr>
          <a:xfrm>
            <a:off x="640080" y="1234440"/>
            <a:ext cx="7863840" cy="960120"/>
          </a:xfrm>
          <a:prstGeom prst="rect">
            <a:avLst/>
          </a:prstGeom>
          <a:noFill/>
          <a:ln/>
        </p:spPr>
        <p:txBody>
          <a:bodyPr wrap="square" lIns="0" tIns="0" rIns="0" bIns="0" rtlCol="0" anchor="ctr"/>
          <a:lstStyle/>
          <a:p>
            <a:pPr rtl="1" algn="ctr" indent="0" marL="0">
              <a:buNone/>
            </a:pPr>
            <a:r>
              <a:rPr lang="en-US" sz="2400" dirty="0">
                <a:solidFill>
                  <a:srgbClr val="EFF1F3"/>
                </a:solidFill>
                <a:latin typeface="Traditional Arabic" pitchFamily="34" charset="0"/>
                <a:ea typeface="Traditional Arabic" pitchFamily="34" charset="-122"/>
                <a:cs typeface="Traditional Arabic" pitchFamily="34" charset="-120"/>
              </a:rPr>
              <a:t>هُوَ ٱلَّذِى بَعَثَ فِى ٱلْأُمِّيِّۦنَ رَسُولًا مِّنْهُمْ يَتْلُوا عَلَيْهِمْ ءَايَٰتِهِۦ وَيُزَكِّيهِمْ وَيُعَلِّمُهُمُ ٱلْكِتَٰبَ وَٱلْحِكْمَةَ وَإِن كَانُوا مِن قَبْلُ لَفِى ضَلَٰلٍ مُّبِينٍ</a:t>
            </a:r>
            <a:endParaRPr lang="en-US" sz="2400" dirty="0"/>
          </a:p>
        </p:txBody>
      </p:sp>
      <p:sp>
        <p:nvSpPr>
          <p:cNvPr id="8" name="Text 5"/>
          <p:cNvSpPr txBox="1"/>
          <p:nvPr/>
        </p:nvSpPr>
        <p:spPr>
          <a:xfrm>
            <a:off x="731520" y="2240280"/>
            <a:ext cx="7680960" cy="960120"/>
          </a:xfrm>
          <a:prstGeom prst="rect">
            <a:avLst/>
          </a:prstGeom>
          <a:noFill/>
          <a:ln/>
        </p:spPr>
        <p:txBody>
          <a:bodyPr wrap="square" lIns="0" tIns="0" rIns="0" bIns="0" rtlCol="0" anchor="t"/>
          <a:lstStyle/>
          <a:p>
            <a:pPr algn="ctr" indent="0" marL="0">
              <a:buNone/>
            </a:pPr>
            <a:r>
              <a:rPr lang="en-US" sz="1050" dirty="0">
                <a:solidFill>
                  <a:srgbClr val="EFF1F3"/>
                </a:solidFill>
                <a:latin typeface="Arial" pitchFamily="34" charset="0"/>
                <a:ea typeface="Arial" pitchFamily="34" charset="-122"/>
                <a:cs typeface="Arial" pitchFamily="34" charset="-120"/>
              </a:rPr>
              <a:t>Dialah yang mengutus kepada kaum yang ummi seorang Rasul di antara mereka, yang membacakan ayat-ayat-Nya kepada mereka, menyucikan mereka, dan mengajarkan kepada mereka Kitab dan Hikmah, dan sesungguhnya mereka sebelumnya benar-benar dalam kesesatan yang nyata.</a:t>
            </a:r>
            <a:endParaRPr lang="en-US" sz="1050" dirty="0"/>
          </a:p>
          <a:p>
            <a:pPr algn="ctr" indent="0" marL="0">
              <a:buNone/>
            </a:pPr>
            <a:r>
              <a:rPr lang="en-US" sz="900" dirty="0">
                <a:solidFill>
                  <a:srgbClr val="F0B060"/>
                </a:solidFill>
                <a:latin typeface="Arial" pitchFamily="34" charset="0"/>
                <a:ea typeface="Arial" pitchFamily="34" charset="-122"/>
                <a:cs typeface="Arial" pitchFamily="34" charset="-120"/>
              </a:rPr>
              <a:t>QS. Al-Jumu’ah [62]: 2</a:t>
            </a:r>
            <a:endParaRPr lang="en-US" sz="1050" dirty="0"/>
          </a:p>
        </p:txBody>
      </p:sp>
      <p:sp>
        <p:nvSpPr>
          <p:cNvPr id="9" name="Shape 6"/>
          <p:cNvSpPr/>
          <p:nvPr/>
        </p:nvSpPr>
        <p:spPr>
          <a:xfrm>
            <a:off x="457200" y="3383280"/>
            <a:ext cx="2651760" cy="777240"/>
          </a:xfrm>
          <a:prstGeom prst="roundRect">
            <a:avLst>
              <a:gd name="adj" fmla="val 11765"/>
            </a:avLst>
          </a:prstGeom>
          <a:solidFill>
            <a:srgbClr val="CC7722">
              <a:alpha val="55000"/>
            </a:srgbClr>
          </a:solidFill>
          <a:ln w="9525">
            <a:solidFill>
              <a:srgbClr val="F0B060"/>
            </a:solidFill>
            <a:prstDash val="solid"/>
          </a:ln>
        </p:spPr>
      </p:sp>
      <p:sp>
        <p:nvSpPr>
          <p:cNvPr id="10" name="Text 7"/>
          <p:cNvSpPr txBox="1"/>
          <p:nvPr/>
        </p:nvSpPr>
        <p:spPr>
          <a:xfrm>
            <a:off x="512064" y="3419856"/>
            <a:ext cx="2542032" cy="704088"/>
          </a:xfrm>
          <a:prstGeom prst="rect">
            <a:avLst/>
          </a:prstGeom>
          <a:noFill/>
          <a:ln/>
        </p:spPr>
        <p:txBody>
          <a:bodyPr wrap="square" lIns="508" tIns="762" rIns="762" bIns="508" rtlCol="0" anchor="t"/>
          <a:lstStyle/>
          <a:p>
            <a:pPr indent="0" marL="0">
              <a:spcAft>
                <a:spcPts val="200"/>
              </a:spcAft>
              <a:buNone/>
            </a:pPr>
            <a:r>
              <a:rPr lang="en-US" sz="1200" b="1" dirty="0">
                <a:solidFill>
                  <a:srgbClr val="EFF1F3"/>
                </a:solidFill>
                <a:latin typeface="Arial" pitchFamily="34" charset="0"/>
                <a:ea typeface="Arial" pitchFamily="34" charset="-122"/>
                <a:cs typeface="Arial" pitchFamily="34" charset="-120"/>
              </a:rPr>
              <a:t>Tilawah</a:t>
            </a:r>
            <a:endParaRPr lang="en-US" sz="120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membacakan ayat</a:t>
            </a:r>
            <a:endParaRPr lang="en-US" sz="1200" dirty="0"/>
          </a:p>
        </p:txBody>
      </p:sp>
      <p:sp>
        <p:nvSpPr>
          <p:cNvPr id="11" name="Shape 8"/>
          <p:cNvSpPr/>
          <p:nvPr/>
        </p:nvSpPr>
        <p:spPr>
          <a:xfrm>
            <a:off x="3246120" y="3383280"/>
            <a:ext cx="2651760" cy="777240"/>
          </a:xfrm>
          <a:prstGeom prst="roundRect">
            <a:avLst>
              <a:gd name="adj" fmla="val 11765"/>
            </a:avLst>
          </a:prstGeom>
          <a:solidFill>
            <a:srgbClr val="CC7722">
              <a:alpha val="55000"/>
            </a:srgbClr>
          </a:solidFill>
          <a:ln w="9525">
            <a:solidFill>
              <a:srgbClr val="F0B060"/>
            </a:solidFill>
            <a:prstDash val="solid"/>
          </a:ln>
        </p:spPr>
      </p:sp>
      <p:sp>
        <p:nvSpPr>
          <p:cNvPr id="12" name="Text 9"/>
          <p:cNvSpPr txBox="1"/>
          <p:nvPr/>
        </p:nvSpPr>
        <p:spPr>
          <a:xfrm>
            <a:off x="3300984" y="3419856"/>
            <a:ext cx="2542032" cy="704088"/>
          </a:xfrm>
          <a:prstGeom prst="rect">
            <a:avLst/>
          </a:prstGeom>
          <a:noFill/>
          <a:ln/>
        </p:spPr>
        <p:txBody>
          <a:bodyPr wrap="square" lIns="508" tIns="762" rIns="762" bIns="508" rtlCol="0" anchor="t"/>
          <a:lstStyle/>
          <a:p>
            <a:pPr indent="0" marL="0">
              <a:spcAft>
                <a:spcPts val="200"/>
              </a:spcAft>
              <a:buNone/>
            </a:pPr>
            <a:r>
              <a:rPr lang="en-US" sz="1200" b="1" dirty="0">
                <a:solidFill>
                  <a:srgbClr val="EFF1F3"/>
                </a:solidFill>
                <a:latin typeface="Arial" pitchFamily="34" charset="0"/>
                <a:ea typeface="Arial" pitchFamily="34" charset="-122"/>
                <a:cs typeface="Arial" pitchFamily="34" charset="-120"/>
              </a:rPr>
              <a:t>Tazkiyah</a:t>
            </a:r>
            <a:endParaRPr lang="en-US" sz="120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menyucikan jiwa</a:t>
            </a:r>
            <a:endParaRPr lang="en-US" sz="1200" dirty="0"/>
          </a:p>
        </p:txBody>
      </p:sp>
      <p:sp>
        <p:nvSpPr>
          <p:cNvPr id="13" name="Shape 10"/>
          <p:cNvSpPr/>
          <p:nvPr/>
        </p:nvSpPr>
        <p:spPr>
          <a:xfrm>
            <a:off x="6035040" y="3383280"/>
            <a:ext cx="2651760" cy="777240"/>
          </a:xfrm>
          <a:prstGeom prst="roundRect">
            <a:avLst>
              <a:gd name="adj" fmla="val 11765"/>
            </a:avLst>
          </a:prstGeom>
          <a:solidFill>
            <a:srgbClr val="CC7722">
              <a:alpha val="55000"/>
            </a:srgbClr>
          </a:solidFill>
          <a:ln w="9525">
            <a:solidFill>
              <a:srgbClr val="F0B060"/>
            </a:solidFill>
            <a:prstDash val="solid"/>
          </a:ln>
        </p:spPr>
      </p:sp>
      <p:sp>
        <p:nvSpPr>
          <p:cNvPr id="14" name="Text 11"/>
          <p:cNvSpPr txBox="1"/>
          <p:nvPr/>
        </p:nvSpPr>
        <p:spPr>
          <a:xfrm>
            <a:off x="6089904" y="3419856"/>
            <a:ext cx="2542032" cy="704088"/>
          </a:xfrm>
          <a:prstGeom prst="rect">
            <a:avLst/>
          </a:prstGeom>
          <a:noFill/>
          <a:ln/>
        </p:spPr>
        <p:txBody>
          <a:bodyPr wrap="square" lIns="508" tIns="762" rIns="762" bIns="508" rtlCol="0" anchor="t"/>
          <a:lstStyle/>
          <a:p>
            <a:pPr indent="0" marL="0">
              <a:spcAft>
                <a:spcPts val="200"/>
              </a:spcAft>
              <a:buNone/>
            </a:pPr>
            <a:r>
              <a:rPr lang="en-US" sz="1200" b="1" dirty="0">
                <a:solidFill>
                  <a:srgbClr val="EFF1F3"/>
                </a:solidFill>
                <a:latin typeface="Arial" pitchFamily="34" charset="0"/>
                <a:ea typeface="Arial" pitchFamily="34" charset="-122"/>
                <a:cs typeface="Arial" pitchFamily="34" charset="-120"/>
              </a:rPr>
              <a:t>Ta'lim al-Kitab wa al-Hikmah</a:t>
            </a:r>
            <a:endParaRPr lang="en-US" sz="120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mengajarkan Kitab dan Hikmah</a:t>
            </a:r>
            <a:endParaRPr lang="en-US" sz="1200" dirty="0"/>
          </a:p>
        </p:txBody>
      </p:sp>
      <p:sp>
        <p:nvSpPr>
          <p:cNvPr id="15" name="Text 12"/>
          <p:cNvSpPr txBox="1"/>
          <p:nvPr/>
        </p:nvSpPr>
        <p:spPr>
          <a:xfrm>
            <a:off x="457200" y="4224528"/>
            <a:ext cx="6217920" cy="274320"/>
          </a:xfrm>
          <a:prstGeom prst="rect">
            <a:avLst/>
          </a:prstGeom>
          <a:noFill/>
          <a:ln/>
        </p:spPr>
        <p:txBody>
          <a:bodyPr wrap="square" lIns="0" tIns="0" rIns="0" bIns="0" rtlCol="0" anchor="ctr"/>
          <a:lstStyle/>
          <a:p>
            <a:pPr indent="0" marL="0">
              <a:buNone/>
            </a:pPr>
            <a:r>
              <a:rPr lang="en-US" sz="900" dirty="0">
                <a:solidFill>
                  <a:srgbClr val="EFF1F3"/>
                </a:solidFill>
                <a:latin typeface="Arial" pitchFamily="34" charset="0"/>
                <a:ea typeface="Arial" pitchFamily="34" charset="-122"/>
                <a:cs typeface="Arial" pitchFamily="34" charset="-120"/>
              </a:rPr>
              <a:t>Ayat pendamping: QS. Al-Baqarah [2]: 129, QS. Al-Baqarah [2]: 151, QS. Ali ‘Imran [3]: 164 (slide berikut)</a:t>
            </a:r>
            <a:endParaRPr lang="en-US" sz="900" dirty="0"/>
          </a:p>
        </p:txBody>
      </p:sp>
      <p:pic>
        <p:nvPicPr>
          <p:cNvPr id="16" name="Image 1" descr="img/man_fly.png">    </p:cNvPr>
          <p:cNvPicPr>
            <a:picLocks noChangeAspect="1"/>
          </p:cNvPicPr>
          <p:nvPr/>
        </p:nvPicPr>
        <p:blipFill>
          <a:blip r:embed="rId3"/>
          <a:stretch>
            <a:fillRect/>
          </a:stretch>
        </p:blipFill>
        <p:spPr>
          <a:xfrm>
            <a:off x="7772400" y="4160520"/>
            <a:ext cx="64008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200" b="1" dirty="0">
                <a:solidFill>
                  <a:srgbClr val="EFF1F3"/>
                </a:solidFill>
                <a:latin typeface="Arial" pitchFamily="34" charset="0"/>
                <a:ea typeface="Arial" pitchFamily="34" charset="-122"/>
                <a:cs typeface="Arial" pitchFamily="34" charset="-120"/>
              </a:rPr>
              <a:t>Ayat pendamping: rumusan serumpun</a:t>
            </a:r>
            <a:endParaRPr lang="en-US" sz="2200" dirty="0"/>
          </a:p>
        </p:txBody>
      </p:sp>
      <p:sp>
        <p:nvSpPr>
          <p:cNvPr id="5" name="Shape 2"/>
          <p:cNvSpPr/>
          <p:nvPr/>
        </p:nvSpPr>
        <p:spPr>
          <a:xfrm>
            <a:off x="365760" y="1097280"/>
            <a:ext cx="2743200" cy="3246120"/>
          </a:xfrm>
          <a:prstGeom prst="roundRect">
            <a:avLst>
              <a:gd name="adj" fmla="val 3333"/>
            </a:avLst>
          </a:prstGeom>
          <a:solidFill>
            <a:srgbClr val="FFFFFF">
              <a:alpha val="10000"/>
            </a:srgbClr>
          </a:solidFill>
          <a:ln w="9525">
            <a:solidFill>
              <a:srgbClr val="EFF1F3">
                <a:alpha val="25000"/>
              </a:srgbClr>
            </a:solidFill>
            <a:prstDash val="solid"/>
          </a:ln>
        </p:spPr>
      </p:sp>
      <p:sp>
        <p:nvSpPr>
          <p:cNvPr id="6" name="Text 3"/>
          <p:cNvSpPr txBox="1"/>
          <p:nvPr/>
        </p:nvSpPr>
        <p:spPr>
          <a:xfrm>
            <a:off x="457200" y="1143000"/>
            <a:ext cx="2560320" cy="274320"/>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Al-Baqarah [2]: 151</a:t>
            </a:r>
            <a:endParaRPr lang="en-US" sz="1100" dirty="0"/>
          </a:p>
        </p:txBody>
      </p:sp>
      <p:sp>
        <p:nvSpPr>
          <p:cNvPr id="7" name="Text 4"/>
          <p:cNvSpPr txBox="1"/>
          <p:nvPr/>
        </p:nvSpPr>
        <p:spPr>
          <a:xfrm>
            <a:off x="457200" y="1417320"/>
            <a:ext cx="2560320" cy="1325880"/>
          </a:xfrm>
          <a:prstGeom prst="rect">
            <a:avLst/>
          </a:prstGeom>
          <a:noFill/>
          <a:ln/>
        </p:spPr>
        <p:txBody>
          <a:bodyPr wrap="square" lIns="0" tIns="0" rIns="0" bIns="0" rtlCol="0" anchor="t"/>
          <a:lstStyle/>
          <a:p>
            <a:pPr rtl="1" algn="r" indent="0" marL="0">
              <a:buNone/>
            </a:pPr>
            <a:r>
              <a:rPr lang="en-US" sz="1300" dirty="0">
                <a:solidFill>
                  <a:srgbClr val="EFF1F3"/>
                </a:solidFill>
                <a:latin typeface="Traditional Arabic" pitchFamily="34" charset="0"/>
                <a:ea typeface="Traditional Arabic" pitchFamily="34" charset="-122"/>
                <a:cs typeface="Traditional Arabic" pitchFamily="34" charset="-120"/>
              </a:rPr>
              <a:t>كَمَآ أَرْسَلْنَا فِيكُمْ رَسُولًا مِّنكُمْ يَتْلُوا عَلَيْكُمْ ءَايَٰتِنَا وَيُزَكِّيكُمْ وَيُعَلِّمُكُمُ ٱلْكِتَٰبَ وَٱلْحِكْمَةَ وَيُعَلِّمُكُم مَّا لَمْ تَكُونُوا تَعْلَمُونَ</a:t>
            </a:r>
            <a:endParaRPr lang="en-US" sz="1300" dirty="0"/>
          </a:p>
        </p:txBody>
      </p:sp>
      <p:sp>
        <p:nvSpPr>
          <p:cNvPr id="8" name="Text 5"/>
          <p:cNvSpPr txBox="1"/>
          <p:nvPr/>
        </p:nvSpPr>
        <p:spPr>
          <a:xfrm>
            <a:off x="457200" y="2743200"/>
            <a:ext cx="2560320" cy="1554480"/>
          </a:xfrm>
          <a:prstGeom prst="rect">
            <a:avLst/>
          </a:prstGeom>
          <a:noFill/>
          <a:ln/>
        </p:spPr>
        <p:txBody>
          <a:bodyPr wrap="square" lIns="0" tIns="0" rIns="0" bIns="0" rtlCol="0" anchor="t"/>
          <a:lstStyle/>
          <a:p>
            <a:pPr indent="0" marL="0">
              <a:buNone/>
            </a:pPr>
            <a:r>
              <a:rPr lang="en-US" sz="800" dirty="0">
                <a:solidFill>
                  <a:srgbClr val="EFF1F3"/>
                </a:solidFill>
                <a:latin typeface="Arial" pitchFamily="34" charset="0"/>
                <a:ea typeface="Arial" pitchFamily="34" charset="-122"/>
                <a:cs typeface="Arial" pitchFamily="34" charset="-120"/>
              </a:rPr>
              <a:t>Sebagaimana (Kami telah menyempurnakan nikmat Kami kepadamu) Kami telah mengutus kepadamu Rasul diantara kamu yang membacakan ayat-ayat Kami kepada kamu dan mensucikan kamu dan mengajarkan kepadamu Al Kitab dan Al-Hikmah, serta mengajarkan kepada kamu apa yang belum kamu ketahui.</a:t>
            </a:r>
            <a:endParaRPr lang="en-US" sz="800" dirty="0"/>
          </a:p>
        </p:txBody>
      </p:sp>
      <p:sp>
        <p:nvSpPr>
          <p:cNvPr id="9" name="Shape 6"/>
          <p:cNvSpPr/>
          <p:nvPr/>
        </p:nvSpPr>
        <p:spPr>
          <a:xfrm>
            <a:off x="3200400" y="1097280"/>
            <a:ext cx="2743200" cy="3246120"/>
          </a:xfrm>
          <a:prstGeom prst="roundRect">
            <a:avLst>
              <a:gd name="adj" fmla="val 3333"/>
            </a:avLst>
          </a:prstGeom>
          <a:solidFill>
            <a:srgbClr val="FFFFFF">
              <a:alpha val="10000"/>
            </a:srgbClr>
          </a:solidFill>
          <a:ln w="9525">
            <a:solidFill>
              <a:srgbClr val="EFF1F3">
                <a:alpha val="25000"/>
              </a:srgbClr>
            </a:solidFill>
            <a:prstDash val="solid"/>
          </a:ln>
        </p:spPr>
      </p:sp>
      <p:sp>
        <p:nvSpPr>
          <p:cNvPr id="10" name="Text 7"/>
          <p:cNvSpPr txBox="1"/>
          <p:nvPr/>
        </p:nvSpPr>
        <p:spPr>
          <a:xfrm>
            <a:off x="3291840" y="1143000"/>
            <a:ext cx="2560320" cy="274320"/>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Ali ‘Imran [3]: 164</a:t>
            </a:r>
            <a:endParaRPr lang="en-US" sz="1100" dirty="0"/>
          </a:p>
        </p:txBody>
      </p:sp>
      <p:sp>
        <p:nvSpPr>
          <p:cNvPr id="11" name="Text 8"/>
          <p:cNvSpPr txBox="1"/>
          <p:nvPr/>
        </p:nvSpPr>
        <p:spPr>
          <a:xfrm>
            <a:off x="3291840" y="1417320"/>
            <a:ext cx="2560320" cy="1325880"/>
          </a:xfrm>
          <a:prstGeom prst="rect">
            <a:avLst/>
          </a:prstGeom>
          <a:noFill/>
          <a:ln/>
        </p:spPr>
        <p:txBody>
          <a:bodyPr wrap="square" lIns="0" tIns="0" rIns="0" bIns="0" rtlCol="0" anchor="t"/>
          <a:lstStyle/>
          <a:p>
            <a:pPr rtl="1" algn="r" indent="0" marL="0">
              <a:buNone/>
            </a:pPr>
            <a:r>
              <a:rPr lang="en-US" sz="1300" dirty="0">
                <a:solidFill>
                  <a:srgbClr val="EFF1F3"/>
                </a:solidFill>
                <a:latin typeface="Traditional Arabic" pitchFamily="34" charset="0"/>
                <a:ea typeface="Traditional Arabic" pitchFamily="34" charset="-122"/>
                <a:cs typeface="Traditional Arabic" pitchFamily="34" charset="-120"/>
              </a:rPr>
              <a:t>لَقَدْ مَنَّ ٱللَّهُ عَلَى ٱلْمُؤْمِنِينَ إِذْ بَعَثَ فِيهِمْ رَسُولًا مِّنْ أَنفُسِهِمْ يَتْلُوا عَلَيْهِمْ ءَايَٰتِهِۦ وَيُزَكِّيهِمْ وَيُعَلِّمُهُمُ ٱلْكِتَٰبَ وَٱلْحِكْمَةَ وَإِن كَانُوا مِن قَبْلُ لَفِى ضَلَٰلٍ مُّبِينٍ</a:t>
            </a:r>
            <a:endParaRPr lang="en-US" sz="1300" dirty="0"/>
          </a:p>
        </p:txBody>
      </p:sp>
      <p:sp>
        <p:nvSpPr>
          <p:cNvPr id="12" name="Text 9"/>
          <p:cNvSpPr txBox="1"/>
          <p:nvPr/>
        </p:nvSpPr>
        <p:spPr>
          <a:xfrm>
            <a:off x="3291840" y="2743200"/>
            <a:ext cx="2560320" cy="1554480"/>
          </a:xfrm>
          <a:prstGeom prst="rect">
            <a:avLst/>
          </a:prstGeom>
          <a:noFill/>
          <a:ln/>
        </p:spPr>
        <p:txBody>
          <a:bodyPr wrap="square" lIns="0" tIns="0" rIns="0" bIns="0" rtlCol="0" anchor="t"/>
          <a:lstStyle/>
          <a:p>
            <a:pPr indent="0" marL="0">
              <a:buNone/>
            </a:pPr>
            <a:r>
              <a:rPr lang="en-US" sz="800" dirty="0">
                <a:solidFill>
                  <a:srgbClr val="EFF1F3"/>
                </a:solidFill>
                <a:latin typeface="Arial" pitchFamily="34" charset="0"/>
                <a:ea typeface="Arial" pitchFamily="34" charset="-122"/>
                <a:cs typeface="Arial" pitchFamily="34" charset="-120"/>
              </a:rPr>
              <a:t>Sungguh Allah telah memberi karunia kepada orang-orang yang beriman ketika Allah mengutus diantara mereka seorang rasul dari golongan mereka sendiri, yang membacakan kepada mereka ayat-ayat Allah, membersihkan (jiwa) mereka, dan mengajarkan kepada mereka Al Kitab dan Al Hikmah. Dan sesungguhnya sebelum (kedatangan Nabi) itu, mereka adalah benar-benar dalam kesesatan yang nyata.</a:t>
            </a:r>
            <a:endParaRPr lang="en-US" sz="800" dirty="0"/>
          </a:p>
        </p:txBody>
      </p:sp>
      <p:sp>
        <p:nvSpPr>
          <p:cNvPr id="13" name="Shape 10"/>
          <p:cNvSpPr/>
          <p:nvPr/>
        </p:nvSpPr>
        <p:spPr>
          <a:xfrm>
            <a:off x="6035040" y="1097280"/>
            <a:ext cx="2743200" cy="3246120"/>
          </a:xfrm>
          <a:prstGeom prst="roundRect">
            <a:avLst>
              <a:gd name="adj" fmla="val 3333"/>
            </a:avLst>
          </a:prstGeom>
          <a:solidFill>
            <a:srgbClr val="FFFFFF">
              <a:alpha val="10000"/>
            </a:srgbClr>
          </a:solidFill>
          <a:ln w="9525">
            <a:solidFill>
              <a:srgbClr val="EFF1F3">
                <a:alpha val="25000"/>
              </a:srgbClr>
            </a:solidFill>
            <a:prstDash val="solid"/>
          </a:ln>
        </p:spPr>
      </p:sp>
      <p:sp>
        <p:nvSpPr>
          <p:cNvPr id="14" name="Text 11"/>
          <p:cNvSpPr txBox="1"/>
          <p:nvPr/>
        </p:nvSpPr>
        <p:spPr>
          <a:xfrm>
            <a:off x="6126480" y="1143000"/>
            <a:ext cx="2560320" cy="274320"/>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Al-Baqarah [2]: 129</a:t>
            </a:r>
            <a:endParaRPr lang="en-US" sz="1100" dirty="0"/>
          </a:p>
        </p:txBody>
      </p:sp>
      <p:sp>
        <p:nvSpPr>
          <p:cNvPr id="15" name="Text 12"/>
          <p:cNvSpPr txBox="1"/>
          <p:nvPr/>
        </p:nvSpPr>
        <p:spPr>
          <a:xfrm>
            <a:off x="6126480" y="1417320"/>
            <a:ext cx="2560320" cy="1325880"/>
          </a:xfrm>
          <a:prstGeom prst="rect">
            <a:avLst/>
          </a:prstGeom>
          <a:noFill/>
          <a:ln/>
        </p:spPr>
        <p:txBody>
          <a:bodyPr wrap="square" lIns="0" tIns="0" rIns="0" bIns="0" rtlCol="0" anchor="t"/>
          <a:lstStyle/>
          <a:p>
            <a:pPr rtl="1" algn="r" indent="0" marL="0">
              <a:buNone/>
            </a:pPr>
            <a:r>
              <a:rPr lang="en-US" sz="1300" dirty="0">
                <a:solidFill>
                  <a:srgbClr val="EFF1F3"/>
                </a:solidFill>
                <a:latin typeface="Traditional Arabic" pitchFamily="34" charset="0"/>
                <a:ea typeface="Traditional Arabic" pitchFamily="34" charset="-122"/>
                <a:cs typeface="Traditional Arabic" pitchFamily="34" charset="-120"/>
              </a:rPr>
              <a:t>رَبَّنَا وَٱبْعَثْ فِيهِمْ رَسُولًا مِّنْهُمْ يَتْلُوا عَلَيْهِمْ ءَايَٰتِكَ وَيُعَلِّمُهُمُ ٱلْكِتَٰبَ وَٱلْحِكْمَةَ وَيُزَكِّيهِمْ ۚ إِنَّكَ أَنتَ ٱلْعَزِيزُ ٱلْحَكِيمُ</a:t>
            </a:r>
            <a:endParaRPr lang="en-US" sz="1300" dirty="0"/>
          </a:p>
        </p:txBody>
      </p:sp>
      <p:sp>
        <p:nvSpPr>
          <p:cNvPr id="16" name="Text 13"/>
          <p:cNvSpPr txBox="1"/>
          <p:nvPr/>
        </p:nvSpPr>
        <p:spPr>
          <a:xfrm>
            <a:off x="6126480" y="2743200"/>
            <a:ext cx="2560320" cy="1554480"/>
          </a:xfrm>
          <a:prstGeom prst="rect">
            <a:avLst/>
          </a:prstGeom>
          <a:noFill/>
          <a:ln/>
        </p:spPr>
        <p:txBody>
          <a:bodyPr wrap="square" lIns="0" tIns="0" rIns="0" bIns="0" rtlCol="0" anchor="t"/>
          <a:lstStyle/>
          <a:p>
            <a:pPr indent="0" marL="0">
              <a:buNone/>
            </a:pPr>
            <a:r>
              <a:rPr lang="en-US" sz="800" dirty="0">
                <a:solidFill>
                  <a:srgbClr val="EFF1F3"/>
                </a:solidFill>
                <a:latin typeface="Arial" pitchFamily="34" charset="0"/>
                <a:ea typeface="Arial" pitchFamily="34" charset="-122"/>
                <a:cs typeface="Arial" pitchFamily="34" charset="-120"/>
              </a:rPr>
              <a:t>Ya Tuhan kami, utuslah di tengah mereka seorang rasul dari kalangan mereka, yang akan membacakan ayat-ayat-Mu kepada mereka, mengajarkan Kitab dan Hikmah kepada mereka, dan menyucikan mereka. Sungguh, Engkaulah Yang Maha Perkasa, Maha Bijaksana.</a:t>
            </a:r>
            <a:endParaRPr lang="en-US" sz="800" dirty="0"/>
          </a:p>
        </p:txBody>
      </p:sp>
      <p:pic>
        <p:nvPicPr>
          <p:cNvPr id="17" name="Image 1" descr="img/man_walk.png">    </p:cNvPr>
          <p:cNvPicPr>
            <a:picLocks noChangeAspect="1"/>
          </p:cNvPicPr>
          <p:nvPr/>
        </p:nvPicPr>
        <p:blipFill>
          <a:blip r:embed="rId3"/>
          <a:stretch>
            <a:fillRect/>
          </a:stretch>
        </p:blipFill>
        <p:spPr>
          <a:xfrm>
            <a:off x="7955280" y="4297680"/>
            <a:ext cx="544068" cy="7772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000" b="1" dirty="0">
                <a:solidFill>
                  <a:srgbClr val="EFF1F3"/>
                </a:solidFill>
                <a:latin typeface="Arial" pitchFamily="34" charset="0"/>
                <a:ea typeface="Arial" pitchFamily="34" charset="-122"/>
                <a:cs typeface="Arial" pitchFamily="34" charset="-120"/>
              </a:rPr>
              <a:t>Tafsir lens: Tilawah</a:t>
            </a:r>
            <a:endParaRPr lang="en-US" sz="2000" dirty="0"/>
          </a:p>
        </p:txBody>
      </p:sp>
      <p:sp>
        <p:nvSpPr>
          <p:cNvPr id="5" name="Text 2"/>
          <p:cNvSpPr txBox="1"/>
          <p:nvPr/>
        </p:nvSpPr>
        <p:spPr>
          <a:xfrm>
            <a:off x="5120640" y="182880"/>
            <a:ext cx="3749040" cy="548640"/>
          </a:xfrm>
          <a:prstGeom prst="rect">
            <a:avLst/>
          </a:prstGeom>
          <a:noFill/>
          <a:ln/>
        </p:spPr>
        <p:txBody>
          <a:bodyPr wrap="square" lIns="0" tIns="0" rIns="0" bIns="0" rtlCol="0" anchor="ctr"/>
          <a:lstStyle/>
          <a:p>
            <a:pPr rtl="1" algn="r" indent="0" marL="0">
              <a:buNone/>
            </a:pPr>
            <a:r>
              <a:rPr lang="en-US" sz="2400" dirty="0">
                <a:solidFill>
                  <a:srgbClr val="F0B060"/>
                </a:solidFill>
                <a:latin typeface="Traditional Arabic" pitchFamily="34" charset="0"/>
                <a:ea typeface="Traditional Arabic" pitchFamily="34" charset="-122"/>
                <a:cs typeface="Traditional Arabic" pitchFamily="34" charset="-120"/>
              </a:rPr>
              <a:t>يَتْلُوا عَلَيْهِمْ ءَايَٰتِهِۦ</a:t>
            </a:r>
            <a:endParaRPr lang="en-US" sz="2400" dirty="0"/>
          </a:p>
        </p:txBody>
      </p:sp>
      <p:sp>
        <p:nvSpPr>
          <p:cNvPr id="6" name="Text 3"/>
          <p:cNvSpPr txBox="1"/>
          <p:nvPr/>
        </p:nvSpPr>
        <p:spPr>
          <a:xfrm>
            <a:off x="960120" y="914400"/>
            <a:ext cx="7772400" cy="438912"/>
          </a:xfrm>
          <a:prstGeom prst="rect">
            <a:avLst/>
          </a:prstGeom>
          <a:noFill/>
          <a:ln/>
        </p:spPr>
        <p:txBody>
          <a:bodyPr wrap="square" lIns="0" tIns="0" rIns="0" bIns="0" rtlCol="0" anchor="t"/>
          <a:lstStyle/>
          <a:p>
            <a:pPr indent="0" marL="0">
              <a:buNone/>
            </a:pPr>
            <a:r>
              <a:rPr lang="en-US" sz="850" b="1" dirty="0">
                <a:solidFill>
                  <a:srgbClr val="F0B060"/>
                </a:solidFill>
                <a:latin typeface="Arial" pitchFamily="34" charset="0"/>
                <a:ea typeface="Arial" pitchFamily="34" charset="-122"/>
                <a:cs typeface="Arial" pitchFamily="34" charset="-120"/>
              </a:rPr>
              <a:t>Makna: </a:t>
            </a:r>
            <a:pPr indent="0" marL="0">
              <a:buNone/>
            </a:pPr>
            <a:r>
              <a:rPr lang="en-US" sz="850" dirty="0">
                <a:solidFill>
                  <a:srgbClr val="EFF1F3"/>
                </a:solidFill>
                <a:latin typeface="Arial" pitchFamily="34" charset="0"/>
                <a:ea typeface="Arial" pitchFamily="34" charset="-122"/>
                <a:cs typeface="Arial" pitchFamily="34" charset="-120"/>
              </a:rPr>
              <a:t>Akar tala-yatlu: membaca, menyampaikan, atau mengikuti sesuatu secara berurutan (Azizah dkk., 2025).</a:t>
            </a:r>
            <a:endParaRPr lang="en-US" sz="850" dirty="0"/>
          </a:p>
        </p:txBody>
      </p:sp>
      <p:sp>
        <p:nvSpPr>
          <p:cNvPr id="7" name="Shape 4"/>
          <p:cNvSpPr/>
          <p:nvPr/>
        </p:nvSpPr>
        <p:spPr>
          <a:xfrm>
            <a:off x="36576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8" name="Text 5"/>
          <p:cNvSpPr txBox="1"/>
          <p:nvPr/>
        </p:nvSpPr>
        <p:spPr>
          <a:xfrm>
            <a:off x="42062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Ath-Thabari</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Fungsi penyampaian (tabligh): komunikasi edukatif untuk menyampaikan kebenaran ilahi.</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(At-Thabari, 2009d)</a:t>
            </a:r>
            <a:endParaRPr lang="en-US" sz="1050" dirty="0"/>
          </a:p>
        </p:txBody>
      </p:sp>
      <p:sp>
        <p:nvSpPr>
          <p:cNvPr id="9" name="Shape 6"/>
          <p:cNvSpPr/>
          <p:nvPr/>
        </p:nvSpPr>
        <p:spPr>
          <a:xfrm>
            <a:off x="320040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0" name="Text 7"/>
          <p:cNvSpPr txBox="1"/>
          <p:nvPr/>
        </p:nvSpPr>
        <p:spPr>
          <a:xfrm>
            <a:off x="325526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Ibnu Katsir</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Membacakan ayat-ayat Al-Quran kepada manusia agar mengenal wahyu Allah.</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(Ibnu Katsir, 2004c)</a:t>
            </a:r>
            <a:endParaRPr lang="en-US" sz="1050" dirty="0"/>
          </a:p>
        </p:txBody>
      </p:sp>
      <p:sp>
        <p:nvSpPr>
          <p:cNvPr id="11" name="Shape 8"/>
          <p:cNvSpPr/>
          <p:nvPr/>
        </p:nvSpPr>
        <p:spPr>
          <a:xfrm>
            <a:off x="603504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2" name="Text 9"/>
          <p:cNvSpPr txBox="1"/>
          <p:nvPr/>
        </p:nvSpPr>
        <p:spPr>
          <a:xfrm>
            <a:off x="608990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Al-Qurthubi</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Tidak dirinci untuk istilah ini dalam makalah.</a:t>
            </a:r>
            <a:endParaRPr lang="en-US" sz="1050" dirty="0"/>
          </a:p>
        </p:txBody>
      </p:sp>
      <p:sp>
        <p:nvSpPr>
          <p:cNvPr id="13" name="Shape 10"/>
          <p:cNvSpPr/>
          <p:nvPr/>
        </p:nvSpPr>
        <p:spPr>
          <a:xfrm>
            <a:off x="36576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4" name="Text 11"/>
          <p:cNvSpPr txBox="1"/>
          <p:nvPr/>
        </p:nvSpPr>
        <p:spPr>
          <a:xfrm>
            <a:off x="42062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Al-Mishbah</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Tidak terbatas pada teks tertulis; mencakup ayat kauniyah di alam semesta.</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(Shihab, 2002b)</a:t>
            </a:r>
            <a:endParaRPr lang="en-US" sz="1050" dirty="0"/>
          </a:p>
        </p:txBody>
      </p:sp>
      <p:sp>
        <p:nvSpPr>
          <p:cNvPr id="15" name="Shape 12"/>
          <p:cNvSpPr/>
          <p:nvPr/>
        </p:nvSpPr>
        <p:spPr>
          <a:xfrm>
            <a:off x="320040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6" name="Text 13"/>
          <p:cNvSpPr txBox="1"/>
          <p:nvPr/>
        </p:nvSpPr>
        <p:spPr>
          <a:xfrm>
            <a:off x="325526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Al-Munir</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Membangun kesadaran rasional agar murid memikirkan penciptaan langit dan bumi.</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(Az-Zuhaili, 2013b)</a:t>
            </a:r>
            <a:endParaRPr lang="en-US" sz="1050" dirty="0"/>
          </a:p>
        </p:txBody>
      </p:sp>
      <p:sp>
        <p:nvSpPr>
          <p:cNvPr id="17" name="Shape 14"/>
          <p:cNvSpPr/>
          <p:nvPr/>
        </p:nvSpPr>
        <p:spPr>
          <a:xfrm>
            <a:off x="603504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8" name="Text 15"/>
          <p:cNvSpPr txBox="1"/>
          <p:nvPr/>
        </p:nvSpPr>
        <p:spPr>
          <a:xfrm>
            <a:off x="608990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Fi Zhilalil Quran</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Pintu awal terbukanya kesadaran akidah melalui pemaparan materi yang otentik.</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(Quthb, 2003c)</a:t>
            </a:r>
            <a:endParaRPr lang="en-US" sz="1050" dirty="0"/>
          </a:p>
        </p:txBody>
      </p:sp>
      <p:sp>
        <p:nvSpPr>
          <p:cNvPr id="19" name="Shape 16"/>
          <p:cNvSpPr/>
          <p:nvPr/>
        </p:nvSpPr>
        <p:spPr>
          <a:xfrm>
            <a:off x="365760" y="347472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20" name="Text 17"/>
          <p:cNvSpPr txBox="1"/>
          <p:nvPr/>
        </p:nvSpPr>
        <p:spPr>
          <a:xfrm>
            <a:off x="42062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Titik temu</a:t>
            </a:r>
            <a:endParaRPr lang="en-US" sz="100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Tilawah adalah penyampaian wahyu yang komunikatif dan menyadarkan.</a:t>
            </a:r>
            <a:endParaRPr lang="en-US" sz="1000" dirty="0"/>
          </a:p>
        </p:txBody>
      </p:sp>
      <p:sp>
        <p:nvSpPr>
          <p:cNvPr id="21" name="Shape 18"/>
          <p:cNvSpPr/>
          <p:nvPr/>
        </p:nvSpPr>
        <p:spPr>
          <a:xfrm>
            <a:off x="3200400" y="347472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22" name="Text 19"/>
          <p:cNvSpPr txBox="1"/>
          <p:nvPr/>
        </p:nvSpPr>
        <p:spPr>
          <a:xfrm>
            <a:off x="325526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Perbedaan penekanan</a:t>
            </a:r>
            <a:endParaRPr lang="en-US" sz="100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Ath-Thabari menekankan tabligh, Al-Mishbah memperluas ke ayat kauniyah, Quthb menekankan pintu kesadaran akidah.</a:t>
            </a:r>
            <a:endParaRPr lang="en-US" sz="1000" dirty="0"/>
          </a:p>
        </p:txBody>
      </p:sp>
      <p:sp>
        <p:nvSpPr>
          <p:cNvPr id="23" name="Shape 20"/>
          <p:cNvSpPr/>
          <p:nvPr/>
        </p:nvSpPr>
        <p:spPr>
          <a:xfrm>
            <a:off x="6035040" y="3474720"/>
            <a:ext cx="2743200" cy="960120"/>
          </a:xfrm>
          <a:prstGeom prst="roundRect">
            <a:avLst>
              <a:gd name="adj" fmla="val 9524"/>
            </a:avLst>
          </a:prstGeom>
          <a:solidFill>
            <a:srgbClr val="CC7722">
              <a:alpha val="55000"/>
            </a:srgbClr>
          </a:solidFill>
          <a:ln w="9525">
            <a:solidFill>
              <a:srgbClr val="F0B060"/>
            </a:solidFill>
            <a:prstDash val="solid"/>
          </a:ln>
        </p:spPr>
      </p:sp>
      <p:sp>
        <p:nvSpPr>
          <p:cNvPr id="24" name="Text 21"/>
          <p:cNvSpPr txBox="1"/>
          <p:nvPr/>
        </p:nvSpPr>
        <p:spPr>
          <a:xfrm>
            <a:off x="608990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Sintesis penulis</a:t>
            </a:r>
            <a:endParaRPr lang="en-US" sz="1000" dirty="0"/>
          </a:p>
          <a:p>
            <a:pPr indent="0" marL="0">
              <a:spcAft>
                <a:spcPts val="200"/>
              </a:spcAft>
              <a:buNone/>
            </a:pPr>
            <a:r>
              <a:rPr lang="en-US" sz="750" dirty="0">
                <a:solidFill>
                  <a:srgbClr val="EFF1F3"/>
                </a:solidFill>
                <a:latin typeface="Arial" pitchFamily="34" charset="0"/>
                <a:ea typeface="Arial" pitchFamily="34" charset="-122"/>
                <a:cs typeface="Arial" pitchFamily="34" charset="-120"/>
              </a:rPr>
              <a:t>Tilawah menuntut dua kecakapan guru: keakuratan menyampaikan materi dan keterampilan merancang pembelajaran yang memadukan ayat qauliyah dan kauniyah (Sumbulah &amp; Rafiq,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000" b="1" dirty="0">
                <a:solidFill>
                  <a:srgbClr val="EFF1F3"/>
                </a:solidFill>
                <a:latin typeface="Arial" pitchFamily="34" charset="0"/>
                <a:ea typeface="Arial" pitchFamily="34" charset="-122"/>
                <a:cs typeface="Arial" pitchFamily="34" charset="-120"/>
              </a:rPr>
              <a:t>Tafsir lens: Tazkiyah</a:t>
            </a:r>
            <a:endParaRPr lang="en-US" sz="2000" dirty="0"/>
          </a:p>
        </p:txBody>
      </p:sp>
      <p:sp>
        <p:nvSpPr>
          <p:cNvPr id="5" name="Text 2"/>
          <p:cNvSpPr txBox="1"/>
          <p:nvPr/>
        </p:nvSpPr>
        <p:spPr>
          <a:xfrm>
            <a:off x="5120640" y="182880"/>
            <a:ext cx="3749040" cy="548640"/>
          </a:xfrm>
          <a:prstGeom prst="rect">
            <a:avLst/>
          </a:prstGeom>
          <a:noFill/>
          <a:ln/>
        </p:spPr>
        <p:txBody>
          <a:bodyPr wrap="square" lIns="0" tIns="0" rIns="0" bIns="0" rtlCol="0" anchor="ctr"/>
          <a:lstStyle/>
          <a:p>
            <a:pPr rtl="1" algn="r" indent="0" marL="0">
              <a:buNone/>
            </a:pPr>
            <a:r>
              <a:rPr lang="en-US" sz="2400" dirty="0">
                <a:solidFill>
                  <a:srgbClr val="F0B060"/>
                </a:solidFill>
                <a:latin typeface="Traditional Arabic" pitchFamily="34" charset="0"/>
                <a:ea typeface="Traditional Arabic" pitchFamily="34" charset="-122"/>
                <a:cs typeface="Traditional Arabic" pitchFamily="34" charset="-120"/>
              </a:rPr>
              <a:t>وَيُزَكِّيهِمْ</a:t>
            </a:r>
            <a:endParaRPr lang="en-US" sz="2400" dirty="0"/>
          </a:p>
        </p:txBody>
      </p:sp>
      <p:sp>
        <p:nvSpPr>
          <p:cNvPr id="6" name="Text 3"/>
          <p:cNvSpPr txBox="1"/>
          <p:nvPr/>
        </p:nvSpPr>
        <p:spPr>
          <a:xfrm>
            <a:off x="960120" y="914400"/>
            <a:ext cx="7772400" cy="438912"/>
          </a:xfrm>
          <a:prstGeom prst="rect">
            <a:avLst/>
          </a:prstGeom>
          <a:noFill/>
          <a:ln/>
        </p:spPr>
        <p:txBody>
          <a:bodyPr wrap="square" lIns="0" tIns="0" rIns="0" bIns="0" rtlCol="0" anchor="t"/>
          <a:lstStyle/>
          <a:p>
            <a:pPr indent="0" marL="0">
              <a:buNone/>
            </a:pPr>
            <a:r>
              <a:rPr lang="en-US" sz="850" b="1" dirty="0">
                <a:solidFill>
                  <a:srgbClr val="F0B060"/>
                </a:solidFill>
                <a:latin typeface="Arial" pitchFamily="34" charset="0"/>
                <a:ea typeface="Arial" pitchFamily="34" charset="-122"/>
                <a:cs typeface="Arial" pitchFamily="34" charset="-120"/>
              </a:rPr>
              <a:t>Makna: </a:t>
            </a:r>
            <a:pPr indent="0" marL="0">
              <a:buNone/>
            </a:pPr>
            <a:r>
              <a:rPr lang="en-US" sz="850" dirty="0">
                <a:solidFill>
                  <a:srgbClr val="EFF1F3"/>
                </a:solidFill>
                <a:latin typeface="Arial" pitchFamily="34" charset="0"/>
                <a:ea typeface="Arial" pitchFamily="34" charset="-122"/>
                <a:cs typeface="Arial" pitchFamily="34" charset="-120"/>
              </a:rPr>
              <a:t>Menyucikan, membersihkan, mengembangkan, dan menumbuhkan kebaikan dalam jiwa (Maskur dkk., 2024).</a:t>
            </a:r>
            <a:endParaRPr lang="en-US" sz="850" dirty="0"/>
          </a:p>
        </p:txBody>
      </p:sp>
      <p:sp>
        <p:nvSpPr>
          <p:cNvPr id="7" name="Shape 4"/>
          <p:cNvSpPr/>
          <p:nvPr/>
        </p:nvSpPr>
        <p:spPr>
          <a:xfrm>
            <a:off x="36576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8" name="Text 5"/>
          <p:cNvSpPr txBox="1"/>
          <p:nvPr/>
        </p:nvSpPr>
        <p:spPr>
          <a:xfrm>
            <a:off x="42062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Ath-Thabari</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Tidak dirinci untuk istilah ini dalam makalah.</a:t>
            </a:r>
            <a:endParaRPr lang="en-US" sz="1050" dirty="0"/>
          </a:p>
        </p:txBody>
      </p:sp>
      <p:sp>
        <p:nvSpPr>
          <p:cNvPr id="9" name="Shape 6"/>
          <p:cNvSpPr/>
          <p:nvPr/>
        </p:nvSpPr>
        <p:spPr>
          <a:xfrm>
            <a:off x="320040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0" name="Text 7"/>
          <p:cNvSpPr txBox="1"/>
          <p:nvPr/>
        </p:nvSpPr>
        <p:spPr>
          <a:xfrm>
            <a:off x="325526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Ibnu Katsir</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Sarana menumbuhkan ketaatan ibadah dan keluhuran budi pekerti.</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(Ibnu Katsir, 2004d)</a:t>
            </a:r>
            <a:endParaRPr lang="en-US" sz="1050" dirty="0"/>
          </a:p>
        </p:txBody>
      </p:sp>
      <p:sp>
        <p:nvSpPr>
          <p:cNvPr id="11" name="Shape 8"/>
          <p:cNvSpPr/>
          <p:nvPr/>
        </p:nvSpPr>
        <p:spPr>
          <a:xfrm>
            <a:off x="603504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2" name="Text 9"/>
          <p:cNvSpPr txBox="1"/>
          <p:nvPr/>
        </p:nvSpPr>
        <p:spPr>
          <a:xfrm>
            <a:off x="608990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Al-Qurthubi</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Membersihkan manusia dari syirik, maksiat, dan penyakit hati menuju kesucian akhlak.</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(Al-Qurthubi, 2006c)</a:t>
            </a:r>
            <a:endParaRPr lang="en-US" sz="1050" dirty="0"/>
          </a:p>
        </p:txBody>
      </p:sp>
      <p:sp>
        <p:nvSpPr>
          <p:cNvPr id="13" name="Shape 10"/>
          <p:cNvSpPr/>
          <p:nvPr/>
        </p:nvSpPr>
        <p:spPr>
          <a:xfrm>
            <a:off x="36576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4" name="Text 11"/>
          <p:cNvSpPr txBox="1"/>
          <p:nvPr/>
        </p:nvSpPr>
        <p:spPr>
          <a:xfrm>
            <a:off x="42062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Al-Mishbah</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Tidak dirinci untuk istilah ini dalam makalah.</a:t>
            </a:r>
            <a:endParaRPr lang="en-US" sz="1050" dirty="0"/>
          </a:p>
        </p:txBody>
      </p:sp>
      <p:sp>
        <p:nvSpPr>
          <p:cNvPr id="15" name="Shape 12"/>
          <p:cNvSpPr/>
          <p:nvPr/>
        </p:nvSpPr>
        <p:spPr>
          <a:xfrm>
            <a:off x="320040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6" name="Text 13"/>
          <p:cNvSpPr txBox="1"/>
          <p:nvPr/>
        </p:nvSpPr>
        <p:spPr>
          <a:xfrm>
            <a:off x="325526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Al-Munir</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Pembebasan jiwa dari kepercayaan paganisme dan tradisi kejahilan.</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(Az-Zuhaili, 2013b)</a:t>
            </a:r>
            <a:endParaRPr lang="en-US" sz="1050" dirty="0"/>
          </a:p>
        </p:txBody>
      </p:sp>
      <p:sp>
        <p:nvSpPr>
          <p:cNvPr id="17" name="Shape 14"/>
          <p:cNvSpPr/>
          <p:nvPr/>
        </p:nvSpPr>
        <p:spPr>
          <a:xfrm>
            <a:off x="603504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8" name="Text 15"/>
          <p:cNvSpPr txBox="1"/>
          <p:nvPr/>
        </p:nvSpPr>
        <p:spPr>
          <a:xfrm>
            <a:off x="608990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Fi Zhilalil Quran</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Penyucian nurani terus-menerus agar peka secara spiritual dan luhur secara moral.</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(Quthb, 2003c)</a:t>
            </a:r>
            <a:endParaRPr lang="en-US" sz="1050" dirty="0"/>
          </a:p>
        </p:txBody>
      </p:sp>
      <p:sp>
        <p:nvSpPr>
          <p:cNvPr id="19" name="Shape 16"/>
          <p:cNvSpPr/>
          <p:nvPr/>
        </p:nvSpPr>
        <p:spPr>
          <a:xfrm>
            <a:off x="365760" y="347472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20" name="Text 17"/>
          <p:cNvSpPr txBox="1"/>
          <p:nvPr/>
        </p:nvSpPr>
        <p:spPr>
          <a:xfrm>
            <a:off x="42062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Titik temu</a:t>
            </a:r>
            <a:endParaRPr lang="en-US" sz="100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Tazkiyah adalah pembersihan jiwa yang bermuara pada akhlak dan ketaatan.</a:t>
            </a:r>
            <a:endParaRPr lang="en-US" sz="1000" dirty="0"/>
          </a:p>
        </p:txBody>
      </p:sp>
      <p:sp>
        <p:nvSpPr>
          <p:cNvPr id="21" name="Shape 18"/>
          <p:cNvSpPr/>
          <p:nvPr/>
        </p:nvSpPr>
        <p:spPr>
          <a:xfrm>
            <a:off x="3200400" y="347472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22" name="Text 19"/>
          <p:cNvSpPr txBox="1"/>
          <p:nvPr/>
        </p:nvSpPr>
        <p:spPr>
          <a:xfrm>
            <a:off x="325526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Perbedaan penekanan</a:t>
            </a:r>
            <a:endParaRPr lang="en-US" sz="100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Al-Qurthubi merinci kotoran yang dibersihkan, Az-Zuhaili menekankan pembebasan dari paganisme, Quthb menekankan kesinambungan.</a:t>
            </a:r>
            <a:endParaRPr lang="en-US" sz="1000" dirty="0"/>
          </a:p>
        </p:txBody>
      </p:sp>
      <p:sp>
        <p:nvSpPr>
          <p:cNvPr id="23" name="Shape 20"/>
          <p:cNvSpPr/>
          <p:nvPr/>
        </p:nvSpPr>
        <p:spPr>
          <a:xfrm>
            <a:off x="6035040" y="3474720"/>
            <a:ext cx="2743200" cy="960120"/>
          </a:xfrm>
          <a:prstGeom prst="roundRect">
            <a:avLst>
              <a:gd name="adj" fmla="val 9524"/>
            </a:avLst>
          </a:prstGeom>
          <a:solidFill>
            <a:srgbClr val="CC7722">
              <a:alpha val="55000"/>
            </a:srgbClr>
          </a:solidFill>
          <a:ln w="9525">
            <a:solidFill>
              <a:srgbClr val="F0B060"/>
            </a:solidFill>
            <a:prstDash val="solid"/>
          </a:ln>
        </p:spPr>
      </p:sp>
      <p:sp>
        <p:nvSpPr>
          <p:cNvPr id="24" name="Text 21"/>
          <p:cNvSpPr txBox="1"/>
          <p:nvPr/>
        </p:nvSpPr>
        <p:spPr>
          <a:xfrm>
            <a:off x="608990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Sintesis penulis</a:t>
            </a:r>
            <a:endParaRPr lang="en-US" sz="1000" dirty="0"/>
          </a:p>
          <a:p>
            <a:pPr indent="0" marL="0">
              <a:spcAft>
                <a:spcPts val="200"/>
              </a:spcAft>
              <a:buNone/>
            </a:pPr>
            <a:r>
              <a:rPr lang="en-US" sz="750" dirty="0">
                <a:solidFill>
                  <a:srgbClr val="EFF1F3"/>
                </a:solidFill>
                <a:latin typeface="Arial" pitchFamily="34" charset="0"/>
                <a:ea typeface="Arial" pitchFamily="34" charset="-122"/>
                <a:cs typeface="Arial" pitchFamily="34" charset="-120"/>
              </a:rPr>
              <a:t>Tazkiyah adalah proses batin. Lembaga tidak menilai hati, tetapi menciptakan kondisi yang mendukung dan mengamati manifestasinya dalam perilaku: kejujuran, kedisiplinan, kesabaran, kesantunan.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000" b="1" dirty="0">
                <a:solidFill>
                  <a:srgbClr val="EFF1F3"/>
                </a:solidFill>
                <a:latin typeface="Arial" pitchFamily="34" charset="0"/>
                <a:ea typeface="Arial" pitchFamily="34" charset="-122"/>
                <a:cs typeface="Arial" pitchFamily="34" charset="-120"/>
              </a:rPr>
              <a:t>Tafsir lens: Ta'lim al-Kitab wa al-Hikmah</a:t>
            </a:r>
            <a:endParaRPr lang="en-US" sz="2000" dirty="0"/>
          </a:p>
        </p:txBody>
      </p:sp>
      <p:sp>
        <p:nvSpPr>
          <p:cNvPr id="5" name="Text 2"/>
          <p:cNvSpPr txBox="1"/>
          <p:nvPr/>
        </p:nvSpPr>
        <p:spPr>
          <a:xfrm>
            <a:off x="5120640" y="182880"/>
            <a:ext cx="3749040" cy="548640"/>
          </a:xfrm>
          <a:prstGeom prst="rect">
            <a:avLst/>
          </a:prstGeom>
          <a:noFill/>
          <a:ln/>
        </p:spPr>
        <p:txBody>
          <a:bodyPr wrap="square" lIns="0" tIns="0" rIns="0" bIns="0" rtlCol="0" anchor="ctr"/>
          <a:lstStyle/>
          <a:p>
            <a:pPr rtl="1" algn="r" indent="0" marL="0">
              <a:buNone/>
            </a:pPr>
            <a:r>
              <a:rPr lang="en-US" sz="2400" dirty="0">
                <a:solidFill>
                  <a:srgbClr val="F0B060"/>
                </a:solidFill>
                <a:latin typeface="Traditional Arabic" pitchFamily="34" charset="0"/>
                <a:ea typeface="Traditional Arabic" pitchFamily="34" charset="-122"/>
                <a:cs typeface="Traditional Arabic" pitchFamily="34" charset="-120"/>
              </a:rPr>
              <a:t>وَيُعَلِّمُهُمُ ٱلْكِتَٰبَ وَٱلْحِكْمَةَ</a:t>
            </a:r>
            <a:endParaRPr lang="en-US" sz="2400" dirty="0"/>
          </a:p>
        </p:txBody>
      </p:sp>
      <p:sp>
        <p:nvSpPr>
          <p:cNvPr id="6" name="Text 3"/>
          <p:cNvSpPr txBox="1"/>
          <p:nvPr/>
        </p:nvSpPr>
        <p:spPr>
          <a:xfrm>
            <a:off x="960120" y="914400"/>
            <a:ext cx="7772400" cy="438912"/>
          </a:xfrm>
          <a:prstGeom prst="rect">
            <a:avLst/>
          </a:prstGeom>
          <a:noFill/>
          <a:ln/>
        </p:spPr>
        <p:txBody>
          <a:bodyPr wrap="square" lIns="0" tIns="0" rIns="0" bIns="0" rtlCol="0" anchor="t"/>
          <a:lstStyle/>
          <a:p>
            <a:pPr indent="0" marL="0">
              <a:buNone/>
            </a:pPr>
            <a:r>
              <a:rPr lang="en-US" sz="850" b="1" dirty="0">
                <a:solidFill>
                  <a:srgbClr val="F0B060"/>
                </a:solidFill>
                <a:latin typeface="Arial" pitchFamily="34" charset="0"/>
                <a:ea typeface="Arial" pitchFamily="34" charset="-122"/>
                <a:cs typeface="Arial" pitchFamily="34" charset="-120"/>
              </a:rPr>
              <a:t>Makna: </a:t>
            </a:r>
            <a:pPr indent="0" marL="0">
              <a:buNone/>
            </a:pPr>
            <a:r>
              <a:rPr lang="en-US" sz="850" dirty="0">
                <a:solidFill>
                  <a:srgbClr val="EFF1F3"/>
                </a:solidFill>
                <a:latin typeface="Arial" pitchFamily="34" charset="0"/>
                <a:ea typeface="Arial" pitchFamily="34" charset="-122"/>
                <a:cs typeface="Arial" pitchFamily="34" charset="-120"/>
              </a:rPr>
              <a:t>Ta'lim: transfer pengetahuan dan pembentukan pemahaman secara sistematis (Hidayah &amp; Romlah, 2022). Al-Kitab dimaknai Al-Quran; al-hikmah dimaknai As-Sunnah, pemahaman agama yang mendalam, atau kebijaksanaan bertindak.</a:t>
            </a:r>
            <a:endParaRPr lang="en-US" sz="850" dirty="0"/>
          </a:p>
        </p:txBody>
      </p:sp>
      <p:sp>
        <p:nvSpPr>
          <p:cNvPr id="7" name="Shape 4"/>
          <p:cNvSpPr/>
          <p:nvPr/>
        </p:nvSpPr>
        <p:spPr>
          <a:xfrm>
            <a:off x="36576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8" name="Text 5"/>
          <p:cNvSpPr txBox="1"/>
          <p:nvPr/>
        </p:nvSpPr>
        <p:spPr>
          <a:xfrm>
            <a:off x="42062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Ath-Thabari</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Hikmah meliputi segala bentuk kebaikan, pemahaman agama, dan ketepatan mengambil keputusan.</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(At-Thabari, 2009c)</a:t>
            </a:r>
            <a:endParaRPr lang="en-US" sz="1050" dirty="0"/>
          </a:p>
        </p:txBody>
      </p:sp>
      <p:sp>
        <p:nvSpPr>
          <p:cNvPr id="9" name="Shape 6"/>
          <p:cNvSpPr/>
          <p:nvPr/>
        </p:nvSpPr>
        <p:spPr>
          <a:xfrm>
            <a:off x="320040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0" name="Text 7"/>
          <p:cNvSpPr txBox="1"/>
          <p:nvPr/>
        </p:nvSpPr>
        <p:spPr>
          <a:xfrm>
            <a:off x="325526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Ibnu Katsir</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Dirujuk bersama At-Thabari pada pemaknaan mayoritas mufasir atas al-Kitab dan al-hikmah.</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(Ibnu Katsir, 2004c, 2004d)</a:t>
            </a:r>
            <a:endParaRPr lang="en-US" sz="1050" dirty="0"/>
          </a:p>
        </p:txBody>
      </p:sp>
      <p:sp>
        <p:nvSpPr>
          <p:cNvPr id="11" name="Shape 8"/>
          <p:cNvSpPr/>
          <p:nvPr/>
        </p:nvSpPr>
        <p:spPr>
          <a:xfrm>
            <a:off x="6035040" y="137160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2" name="Text 9"/>
          <p:cNvSpPr txBox="1"/>
          <p:nvPr/>
        </p:nvSpPr>
        <p:spPr>
          <a:xfrm>
            <a:off x="6089904" y="1408176"/>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Al-Qurthubi</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Pengajaran hikmah mencakup rahasia hukum syariat dan kearifan berpikir pada murid.</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(Al-Qurthubi, 2006c)</a:t>
            </a:r>
            <a:endParaRPr lang="en-US" sz="1050" dirty="0"/>
          </a:p>
        </p:txBody>
      </p:sp>
      <p:sp>
        <p:nvSpPr>
          <p:cNvPr id="13" name="Shape 10"/>
          <p:cNvSpPr/>
          <p:nvPr/>
        </p:nvSpPr>
        <p:spPr>
          <a:xfrm>
            <a:off x="36576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4" name="Text 11"/>
          <p:cNvSpPr txBox="1"/>
          <p:nvPr/>
        </p:nvSpPr>
        <p:spPr>
          <a:xfrm>
            <a:off x="42062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Al-Mishbah</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Penguasaan ilmu teoretis sekaligus kemampuan menerapkannya secara bijaksana.</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(Shihab, 2002b)</a:t>
            </a:r>
            <a:endParaRPr lang="en-US" sz="1050" dirty="0"/>
          </a:p>
        </p:txBody>
      </p:sp>
      <p:sp>
        <p:nvSpPr>
          <p:cNvPr id="15" name="Shape 12"/>
          <p:cNvSpPr/>
          <p:nvPr/>
        </p:nvSpPr>
        <p:spPr>
          <a:xfrm>
            <a:off x="320040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6" name="Text 13"/>
          <p:cNvSpPr txBox="1"/>
          <p:nvPr/>
        </p:nvSpPr>
        <p:spPr>
          <a:xfrm>
            <a:off x="325526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Al-Munir</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Tidak dirinci untuk istilah ini dalam makalah.</a:t>
            </a:r>
            <a:endParaRPr lang="en-US" sz="1050" dirty="0"/>
          </a:p>
        </p:txBody>
      </p:sp>
      <p:sp>
        <p:nvSpPr>
          <p:cNvPr id="17" name="Shape 14"/>
          <p:cNvSpPr/>
          <p:nvPr/>
        </p:nvSpPr>
        <p:spPr>
          <a:xfrm>
            <a:off x="6035040" y="2395728"/>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18" name="Text 15"/>
          <p:cNvSpPr txBox="1"/>
          <p:nvPr/>
        </p:nvSpPr>
        <p:spPr>
          <a:xfrm>
            <a:off x="6089904" y="2432304"/>
            <a:ext cx="2633472" cy="8869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Fi Zhilalil Quran</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Pola pendidikan kenabian mengubah masyarakat jahiliah menjadi peradaban berilmu.</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(Quthb, 2003c)</a:t>
            </a:r>
            <a:endParaRPr lang="en-US" sz="1050" dirty="0"/>
          </a:p>
        </p:txBody>
      </p:sp>
      <p:sp>
        <p:nvSpPr>
          <p:cNvPr id="19" name="Shape 16"/>
          <p:cNvSpPr/>
          <p:nvPr/>
        </p:nvSpPr>
        <p:spPr>
          <a:xfrm>
            <a:off x="365760" y="347472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20" name="Text 17"/>
          <p:cNvSpPr txBox="1"/>
          <p:nvPr/>
        </p:nvSpPr>
        <p:spPr>
          <a:xfrm>
            <a:off x="42062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Titik temu</a:t>
            </a:r>
            <a:endParaRPr lang="en-US" sz="100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Al-Kitab berkaitan dengan isi ilmu, hikmah berkaitan dengan ketepatan menggunakannya.</a:t>
            </a:r>
            <a:endParaRPr lang="en-US" sz="1000" dirty="0"/>
          </a:p>
        </p:txBody>
      </p:sp>
      <p:sp>
        <p:nvSpPr>
          <p:cNvPr id="21" name="Shape 18"/>
          <p:cNvSpPr/>
          <p:nvPr/>
        </p:nvSpPr>
        <p:spPr>
          <a:xfrm>
            <a:off x="3200400" y="3474720"/>
            <a:ext cx="2743200" cy="960120"/>
          </a:xfrm>
          <a:prstGeom prst="roundRect">
            <a:avLst>
              <a:gd name="adj" fmla="val 9524"/>
            </a:avLst>
          </a:prstGeom>
          <a:solidFill>
            <a:srgbClr val="FFFFFF">
              <a:alpha val="10000"/>
            </a:srgbClr>
          </a:solidFill>
          <a:ln w="9525">
            <a:solidFill>
              <a:srgbClr val="EFF1F3">
                <a:alpha val="25000"/>
              </a:srgbClr>
            </a:solidFill>
            <a:prstDash val="solid"/>
          </a:ln>
        </p:spPr>
      </p:sp>
      <p:sp>
        <p:nvSpPr>
          <p:cNvPr id="22" name="Text 19"/>
          <p:cNvSpPr txBox="1"/>
          <p:nvPr/>
        </p:nvSpPr>
        <p:spPr>
          <a:xfrm>
            <a:off x="325526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Perbedaan penekanan</a:t>
            </a:r>
            <a:endParaRPr lang="en-US" sz="100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Al-Qurthubi menekankan hukum dan kearifan berpikir, Ath-Thabari menekankan ketepatan keputusan, Shihab menekankan penerapan bijaksana.</a:t>
            </a:r>
            <a:endParaRPr lang="en-US" sz="1000" dirty="0"/>
          </a:p>
        </p:txBody>
      </p:sp>
      <p:sp>
        <p:nvSpPr>
          <p:cNvPr id="23" name="Shape 20"/>
          <p:cNvSpPr/>
          <p:nvPr/>
        </p:nvSpPr>
        <p:spPr>
          <a:xfrm>
            <a:off x="6035040" y="3474720"/>
            <a:ext cx="2743200" cy="960120"/>
          </a:xfrm>
          <a:prstGeom prst="roundRect">
            <a:avLst>
              <a:gd name="adj" fmla="val 9524"/>
            </a:avLst>
          </a:prstGeom>
          <a:solidFill>
            <a:srgbClr val="CC7722">
              <a:alpha val="55000"/>
            </a:srgbClr>
          </a:solidFill>
          <a:ln w="9525">
            <a:solidFill>
              <a:srgbClr val="F0B060"/>
            </a:solidFill>
            <a:prstDash val="solid"/>
          </a:ln>
        </p:spPr>
      </p:sp>
      <p:sp>
        <p:nvSpPr>
          <p:cNvPr id="24" name="Text 21"/>
          <p:cNvSpPr txBox="1"/>
          <p:nvPr/>
        </p:nvSpPr>
        <p:spPr>
          <a:xfrm>
            <a:off x="6089904" y="3511296"/>
            <a:ext cx="2633472" cy="88696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Sintesis penulis</a:t>
            </a:r>
            <a:endParaRPr lang="en-US" sz="1000" dirty="0"/>
          </a:p>
          <a:p>
            <a:pPr indent="0" marL="0">
              <a:spcAft>
                <a:spcPts val="200"/>
              </a:spcAft>
              <a:buNone/>
            </a:pPr>
            <a:r>
              <a:rPr lang="en-US" sz="750" dirty="0">
                <a:solidFill>
                  <a:srgbClr val="EFF1F3"/>
                </a:solidFill>
                <a:latin typeface="Arial" pitchFamily="34" charset="0"/>
                <a:ea typeface="Arial" pitchFamily="34" charset="-122"/>
                <a:cs typeface="Arial" pitchFamily="34" charset="-120"/>
              </a:rPr>
              <a:t>Al-kitab berkaitan dengan apa yang diketahui, al-hikmah berkaitan dengan kapan, kepada siapa, dan bagaimana pengetahuan diterapkan. Ini pembacaan penulis atas penjelasan para mufasir.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1900" b="1" dirty="0">
                <a:solidFill>
                  <a:srgbClr val="EFF1F3"/>
                </a:solidFill>
                <a:latin typeface="Arial" pitchFamily="34" charset="0"/>
                <a:ea typeface="Arial" pitchFamily="34" charset="-122"/>
                <a:cs typeface="Arial" pitchFamily="34" charset="-120"/>
              </a:rPr>
              <a:t>Kaidah kebahasaan (1): akar kata dan struktur ayat</a:t>
            </a:r>
            <a:endParaRPr lang="en-US" sz="1900" dirty="0"/>
          </a:p>
        </p:txBody>
      </p:sp>
      <p:sp>
        <p:nvSpPr>
          <p:cNvPr id="5" name="Shape 2"/>
          <p:cNvSpPr/>
          <p:nvPr/>
        </p:nvSpPr>
        <p:spPr>
          <a:xfrm>
            <a:off x="365760" y="1051560"/>
            <a:ext cx="2743200" cy="731520"/>
          </a:xfrm>
          <a:prstGeom prst="roundRect">
            <a:avLst>
              <a:gd name="adj" fmla="val 12500"/>
            </a:avLst>
          </a:prstGeom>
          <a:solidFill>
            <a:srgbClr val="FFFFFF">
              <a:alpha val="10000"/>
            </a:srgbClr>
          </a:solidFill>
          <a:ln w="9525">
            <a:solidFill>
              <a:srgbClr val="EFF1F3">
                <a:alpha val="25000"/>
              </a:srgbClr>
            </a:solidFill>
            <a:prstDash val="solid"/>
          </a:ln>
        </p:spPr>
      </p:sp>
      <p:sp>
        <p:nvSpPr>
          <p:cNvPr id="6" name="Text 3"/>
          <p:cNvSpPr txBox="1"/>
          <p:nvPr/>
        </p:nvSpPr>
        <p:spPr>
          <a:xfrm>
            <a:off x="420624" y="1088136"/>
            <a:ext cx="2633472" cy="6583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tala-yatlu</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membaca, menyampaikan, mengikuti secara berurutan</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(Azizah dkk., 2025)</a:t>
            </a:r>
            <a:endParaRPr lang="en-US" sz="1050" dirty="0"/>
          </a:p>
        </p:txBody>
      </p:sp>
      <p:sp>
        <p:nvSpPr>
          <p:cNvPr id="7" name="Shape 4"/>
          <p:cNvSpPr/>
          <p:nvPr/>
        </p:nvSpPr>
        <p:spPr>
          <a:xfrm>
            <a:off x="3200400" y="1051560"/>
            <a:ext cx="2743200" cy="731520"/>
          </a:xfrm>
          <a:prstGeom prst="roundRect">
            <a:avLst>
              <a:gd name="adj" fmla="val 12500"/>
            </a:avLst>
          </a:prstGeom>
          <a:solidFill>
            <a:srgbClr val="FFFFFF">
              <a:alpha val="10000"/>
            </a:srgbClr>
          </a:solidFill>
          <a:ln w="9525">
            <a:solidFill>
              <a:srgbClr val="EFF1F3">
                <a:alpha val="25000"/>
              </a:srgbClr>
            </a:solidFill>
            <a:prstDash val="solid"/>
          </a:ln>
        </p:spPr>
      </p:sp>
      <p:sp>
        <p:nvSpPr>
          <p:cNvPr id="8" name="Text 5"/>
          <p:cNvSpPr txBox="1"/>
          <p:nvPr/>
        </p:nvSpPr>
        <p:spPr>
          <a:xfrm>
            <a:off x="3255264" y="1088136"/>
            <a:ext cx="2633472" cy="6583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tazkiyah</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menyucikan, membersihkan, mengembangkan, menumbuhkan</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(Maskur dkk., 2024)</a:t>
            </a:r>
            <a:endParaRPr lang="en-US" sz="1050" dirty="0"/>
          </a:p>
        </p:txBody>
      </p:sp>
      <p:sp>
        <p:nvSpPr>
          <p:cNvPr id="9" name="Shape 6"/>
          <p:cNvSpPr/>
          <p:nvPr/>
        </p:nvSpPr>
        <p:spPr>
          <a:xfrm>
            <a:off x="6035040" y="1051560"/>
            <a:ext cx="2743200" cy="731520"/>
          </a:xfrm>
          <a:prstGeom prst="roundRect">
            <a:avLst>
              <a:gd name="adj" fmla="val 12500"/>
            </a:avLst>
          </a:prstGeom>
          <a:solidFill>
            <a:srgbClr val="FFFFFF">
              <a:alpha val="10000"/>
            </a:srgbClr>
          </a:solidFill>
          <a:ln w="9525">
            <a:solidFill>
              <a:srgbClr val="EFF1F3">
                <a:alpha val="25000"/>
              </a:srgbClr>
            </a:solidFill>
            <a:prstDash val="solid"/>
          </a:ln>
        </p:spPr>
      </p:sp>
      <p:sp>
        <p:nvSpPr>
          <p:cNvPr id="10" name="Text 7"/>
          <p:cNvSpPr txBox="1"/>
          <p:nvPr/>
        </p:nvSpPr>
        <p:spPr>
          <a:xfrm>
            <a:off x="6089904" y="1088136"/>
            <a:ext cx="2633472" cy="658368"/>
          </a:xfrm>
          <a:prstGeom prst="rect">
            <a:avLst/>
          </a:prstGeom>
          <a:noFill/>
          <a:ln/>
        </p:spPr>
        <p:txBody>
          <a:bodyPr wrap="square" lIns="508" tIns="762" rIns="762" bIns="508" rtlCol="0" anchor="t"/>
          <a:lstStyle/>
          <a:p>
            <a:pPr indent="0" marL="0">
              <a:spcAft>
                <a:spcPts val="200"/>
              </a:spcAft>
              <a:buNone/>
            </a:pPr>
            <a:r>
              <a:rPr lang="en-US" sz="1050" b="1" dirty="0">
                <a:solidFill>
                  <a:srgbClr val="EFF1F3"/>
                </a:solidFill>
                <a:latin typeface="Arial" pitchFamily="34" charset="0"/>
                <a:ea typeface="Arial" pitchFamily="34" charset="-122"/>
                <a:cs typeface="Arial" pitchFamily="34" charset="-120"/>
              </a:rPr>
              <a:t>ta'lim</a:t>
            </a:r>
            <a:endParaRPr lang="en-US" sz="105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transfer pengetahuan dan pembentukan pemahaman secara sistematis</a:t>
            </a:r>
            <a:endParaRPr lang="en-US" sz="105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(Hidayah &amp; Romlah, 2022)</a:t>
            </a:r>
            <a:endParaRPr lang="en-US" sz="1050" dirty="0"/>
          </a:p>
        </p:txBody>
      </p:sp>
      <p:sp>
        <p:nvSpPr>
          <p:cNvPr id="11" name="Text 8"/>
          <p:cNvSpPr txBox="1"/>
          <p:nvPr/>
        </p:nvSpPr>
        <p:spPr>
          <a:xfrm>
            <a:off x="365760" y="1920240"/>
            <a:ext cx="4114800" cy="256032"/>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Al-Jumu'ah [62]: 2</a:t>
            </a:r>
            <a:endParaRPr lang="en-US" sz="1100" dirty="0"/>
          </a:p>
        </p:txBody>
      </p:sp>
      <p:sp>
        <p:nvSpPr>
          <p:cNvPr id="12" name="Shape 9"/>
          <p:cNvSpPr/>
          <p:nvPr/>
        </p:nvSpPr>
        <p:spPr>
          <a:xfrm>
            <a:off x="365760" y="2194560"/>
            <a:ext cx="4206240" cy="646176"/>
          </a:xfrm>
          <a:prstGeom prst="roundRect">
            <a:avLst>
              <a:gd name="adj" fmla="val 14151"/>
            </a:avLst>
          </a:prstGeom>
          <a:solidFill>
            <a:srgbClr val="FFFFFF">
              <a:alpha val="10000"/>
            </a:srgbClr>
          </a:solidFill>
          <a:ln w="9525">
            <a:solidFill>
              <a:srgbClr val="EFF1F3">
                <a:alpha val="25000"/>
              </a:srgbClr>
            </a:solidFill>
            <a:prstDash val="solid"/>
          </a:ln>
        </p:spPr>
      </p:sp>
      <p:sp>
        <p:nvSpPr>
          <p:cNvPr id="13" name="Text 10"/>
          <p:cNvSpPr txBox="1"/>
          <p:nvPr/>
        </p:nvSpPr>
        <p:spPr>
          <a:xfrm>
            <a:off x="420624" y="2231136"/>
            <a:ext cx="4096512" cy="57302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Bentuk mudhari' pada yatlu, yuzakki, yu'allimu</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Lazim dipahami menunjuk peristiwa yang berlangsung dan berulang. Penulis membacanya sebagai proses yang terus diperbarui, sehingga pembinaan guru berkelanjutan (Interpretasi penulis; Rifki, 2024).</a:t>
            </a:r>
            <a:endParaRPr lang="en-US" sz="950" dirty="0"/>
          </a:p>
        </p:txBody>
      </p:sp>
      <p:sp>
        <p:nvSpPr>
          <p:cNvPr id="14" name="Shape 11"/>
          <p:cNvSpPr/>
          <p:nvPr/>
        </p:nvSpPr>
        <p:spPr>
          <a:xfrm>
            <a:off x="365760" y="2895600"/>
            <a:ext cx="4206240" cy="646176"/>
          </a:xfrm>
          <a:prstGeom prst="roundRect">
            <a:avLst>
              <a:gd name="adj" fmla="val 14151"/>
            </a:avLst>
          </a:prstGeom>
          <a:solidFill>
            <a:srgbClr val="FFFFFF">
              <a:alpha val="10000"/>
            </a:srgbClr>
          </a:solidFill>
          <a:ln w="9525">
            <a:solidFill>
              <a:srgbClr val="EFF1F3">
                <a:alpha val="25000"/>
              </a:srgbClr>
            </a:solidFill>
            <a:prstDash val="solid"/>
          </a:ln>
        </p:spPr>
      </p:sp>
      <p:sp>
        <p:nvSpPr>
          <p:cNvPr id="15" name="Text 12"/>
          <p:cNvSpPr txBox="1"/>
          <p:nvPr/>
        </p:nvSpPr>
        <p:spPr>
          <a:xfrm>
            <a:off x="420624" y="2932176"/>
            <a:ext cx="4096512" cy="57302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Al-ummiyyin dan minhum</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Masyarakat Arab yang mayoritas tidak memiliki tradisi baca-tulis kitab suci; Rasul diutus dari kalangan mereka (Al-Qurthubi, 2006c; At-Thabari, 2009c).</a:t>
            </a:r>
            <a:endParaRPr lang="en-US" sz="950" dirty="0"/>
          </a:p>
        </p:txBody>
      </p:sp>
      <p:sp>
        <p:nvSpPr>
          <p:cNvPr id="16" name="Shape 13"/>
          <p:cNvSpPr/>
          <p:nvPr/>
        </p:nvSpPr>
        <p:spPr>
          <a:xfrm>
            <a:off x="365760" y="3596640"/>
            <a:ext cx="4206240" cy="646176"/>
          </a:xfrm>
          <a:prstGeom prst="roundRect">
            <a:avLst>
              <a:gd name="adj" fmla="val 14151"/>
            </a:avLst>
          </a:prstGeom>
          <a:solidFill>
            <a:srgbClr val="FFFFFF">
              <a:alpha val="10000"/>
            </a:srgbClr>
          </a:solidFill>
          <a:ln w="9525">
            <a:solidFill>
              <a:srgbClr val="EFF1F3">
                <a:alpha val="25000"/>
              </a:srgbClr>
            </a:solidFill>
            <a:prstDash val="solid"/>
          </a:ln>
        </p:spPr>
      </p:sp>
      <p:sp>
        <p:nvSpPr>
          <p:cNvPr id="17" name="Text 14"/>
          <p:cNvSpPr txBox="1"/>
          <p:nvPr/>
        </p:nvSpPr>
        <p:spPr>
          <a:xfrm>
            <a:off x="420624" y="3633216"/>
            <a:ext cx="4096512" cy="57302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Penutup dhalalin mubin</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Menunjukkan tujuan (ghayah): pembebasan dari kesesatan nyata (Az-Zuhaili, 2013d).</a:t>
            </a:r>
            <a:endParaRPr lang="en-US" sz="950" dirty="0"/>
          </a:p>
        </p:txBody>
      </p:sp>
      <p:sp>
        <p:nvSpPr>
          <p:cNvPr id="18" name="Text 15"/>
          <p:cNvSpPr txBox="1"/>
          <p:nvPr/>
        </p:nvSpPr>
        <p:spPr>
          <a:xfrm>
            <a:off x="4663440" y="1920240"/>
            <a:ext cx="4114800" cy="256032"/>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Al-Baqarah [2]: 151</a:t>
            </a:r>
            <a:endParaRPr lang="en-US" sz="1100" dirty="0"/>
          </a:p>
        </p:txBody>
      </p:sp>
      <p:sp>
        <p:nvSpPr>
          <p:cNvPr id="19" name="Shape 16"/>
          <p:cNvSpPr/>
          <p:nvPr/>
        </p:nvSpPr>
        <p:spPr>
          <a:xfrm>
            <a:off x="4663440" y="2194560"/>
            <a:ext cx="4206240" cy="646176"/>
          </a:xfrm>
          <a:prstGeom prst="roundRect">
            <a:avLst>
              <a:gd name="adj" fmla="val 14151"/>
            </a:avLst>
          </a:prstGeom>
          <a:solidFill>
            <a:srgbClr val="FFFFFF">
              <a:alpha val="10000"/>
            </a:srgbClr>
          </a:solidFill>
          <a:ln w="9525">
            <a:solidFill>
              <a:srgbClr val="EFF1F3">
                <a:alpha val="25000"/>
              </a:srgbClr>
            </a:solidFill>
            <a:prstDash val="solid"/>
          </a:ln>
        </p:spPr>
      </p:sp>
      <p:sp>
        <p:nvSpPr>
          <p:cNvPr id="20" name="Text 17"/>
          <p:cNvSpPr txBox="1"/>
          <p:nvPr/>
        </p:nvSpPr>
        <p:spPr>
          <a:xfrm>
            <a:off x="4718304" y="2231136"/>
            <a:ext cx="4096512" cy="57302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Tambahan ma lam takunu ta'lamun</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Fungsi keempat: membuka jalan bagi pengetahuan baru. Bagi guru, mengajar mencakup kesediaan terus belajar (Sumbulah &amp; Rafiq, 2026).</a:t>
            </a:r>
            <a:endParaRPr lang="en-US" sz="950" dirty="0"/>
          </a:p>
        </p:txBody>
      </p:sp>
      <p:sp>
        <p:nvSpPr>
          <p:cNvPr id="21" name="Shape 18"/>
          <p:cNvSpPr/>
          <p:nvPr/>
        </p:nvSpPr>
        <p:spPr>
          <a:xfrm>
            <a:off x="4663440" y="2895600"/>
            <a:ext cx="4206240" cy="646176"/>
          </a:xfrm>
          <a:prstGeom prst="roundRect">
            <a:avLst>
              <a:gd name="adj" fmla="val 14151"/>
            </a:avLst>
          </a:prstGeom>
          <a:solidFill>
            <a:srgbClr val="FFFFFF">
              <a:alpha val="10000"/>
            </a:srgbClr>
          </a:solidFill>
          <a:ln w="9525">
            <a:solidFill>
              <a:srgbClr val="EFF1F3">
                <a:alpha val="25000"/>
              </a:srgbClr>
            </a:solidFill>
            <a:prstDash val="solid"/>
          </a:ln>
        </p:spPr>
      </p:sp>
      <p:sp>
        <p:nvSpPr>
          <p:cNvPr id="22" name="Text 19"/>
          <p:cNvSpPr txBox="1"/>
          <p:nvPr/>
        </p:nvSpPr>
        <p:spPr>
          <a:xfrm>
            <a:off x="4718304" y="2932176"/>
            <a:ext cx="4096512" cy="57302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Minkum dan khitab langsung</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Rasul di antara kamu: pendidik hadir dari tengah komunitas yang dididik.</a:t>
            </a:r>
            <a:endParaRPr lang="en-US" sz="950" dirty="0"/>
          </a:p>
        </p:txBody>
      </p:sp>
      <p:sp>
        <p:nvSpPr>
          <p:cNvPr id="23" name="Shape 20"/>
          <p:cNvSpPr/>
          <p:nvPr/>
        </p:nvSpPr>
        <p:spPr>
          <a:xfrm>
            <a:off x="4663440" y="3596640"/>
            <a:ext cx="4206240" cy="646176"/>
          </a:xfrm>
          <a:prstGeom prst="roundRect">
            <a:avLst>
              <a:gd name="adj" fmla="val 14151"/>
            </a:avLst>
          </a:prstGeom>
          <a:solidFill>
            <a:srgbClr val="FFFFFF">
              <a:alpha val="10000"/>
            </a:srgbClr>
          </a:solidFill>
          <a:ln w="9525">
            <a:solidFill>
              <a:srgbClr val="EFF1F3">
                <a:alpha val="25000"/>
              </a:srgbClr>
            </a:solidFill>
            <a:prstDash val="solid"/>
          </a:ln>
        </p:spPr>
      </p:sp>
      <p:sp>
        <p:nvSpPr>
          <p:cNvPr id="24" name="Text 21"/>
          <p:cNvSpPr txBox="1"/>
          <p:nvPr/>
        </p:nvSpPr>
        <p:spPr>
          <a:xfrm>
            <a:off x="4718304" y="3633216"/>
            <a:ext cx="4096512" cy="57302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Urutan fungsi</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Tilawah, tazkiyah, ta'lim: tazkiyah sebelum ta'lim (Interpretasi penulis).</a:t>
            </a:r>
            <a:endParaRPr lang="en-US" sz="950" dirty="0"/>
          </a:p>
        </p:txBody>
      </p:sp>
      <p:pic>
        <p:nvPicPr>
          <p:cNvPr id="25" name="Image 1" descr="img/man_hop.png">    </p:cNvPr>
          <p:cNvPicPr>
            <a:picLocks noChangeAspect="1"/>
          </p:cNvPicPr>
          <p:nvPr/>
        </p:nvPicPr>
        <p:blipFill>
          <a:blip r:embed="rId3"/>
          <a:stretch>
            <a:fillRect/>
          </a:stretch>
        </p:blipFill>
        <p:spPr>
          <a:xfrm>
            <a:off x="8138160" y="4297680"/>
            <a:ext cx="544068" cy="777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1900" b="1" dirty="0">
                <a:solidFill>
                  <a:srgbClr val="EFF1F3"/>
                </a:solidFill>
                <a:latin typeface="Arial" pitchFamily="34" charset="0"/>
                <a:ea typeface="Arial" pitchFamily="34" charset="-122"/>
                <a:cs typeface="Arial" pitchFamily="34" charset="-120"/>
              </a:rPr>
              <a:t>Kaidah kebahasaan (2): ayat pendamping</a:t>
            </a:r>
            <a:endParaRPr lang="en-US" sz="1900" dirty="0"/>
          </a:p>
        </p:txBody>
      </p:sp>
      <p:sp>
        <p:nvSpPr>
          <p:cNvPr id="5" name="Text 2"/>
          <p:cNvSpPr txBox="1"/>
          <p:nvPr/>
        </p:nvSpPr>
        <p:spPr>
          <a:xfrm>
            <a:off x="365760" y="1051560"/>
            <a:ext cx="4114800" cy="256032"/>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Ali 'Imran [3]: 164</a:t>
            </a:r>
            <a:endParaRPr lang="en-US" sz="1100" dirty="0"/>
          </a:p>
        </p:txBody>
      </p:sp>
      <p:sp>
        <p:nvSpPr>
          <p:cNvPr id="6" name="Shape 3"/>
          <p:cNvSpPr/>
          <p:nvPr/>
        </p:nvSpPr>
        <p:spPr>
          <a:xfrm>
            <a:off x="365760" y="1325880"/>
            <a:ext cx="4206240" cy="935736"/>
          </a:xfrm>
          <a:prstGeom prst="roundRect">
            <a:avLst>
              <a:gd name="adj" fmla="val 9772"/>
            </a:avLst>
          </a:prstGeom>
          <a:solidFill>
            <a:srgbClr val="FFFFFF">
              <a:alpha val="10000"/>
            </a:srgbClr>
          </a:solidFill>
          <a:ln w="9525">
            <a:solidFill>
              <a:srgbClr val="EFF1F3">
                <a:alpha val="25000"/>
              </a:srgbClr>
            </a:solidFill>
            <a:prstDash val="solid"/>
          </a:ln>
        </p:spPr>
      </p:sp>
      <p:sp>
        <p:nvSpPr>
          <p:cNvPr id="7" name="Text 4"/>
          <p:cNvSpPr txBox="1"/>
          <p:nvPr/>
        </p:nvSpPr>
        <p:spPr>
          <a:xfrm>
            <a:off x="420624" y="1362456"/>
            <a:ext cx="4096512" cy="86258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Bingkai manna (karunia)</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Kehadiran Rasul sebagai karunia terbesar bagi al-mu'minin (Quthb, 2003b); profesi pendidik bernilai ibadah (Basith &amp; Mubin, 2025).</a:t>
            </a:r>
            <a:endParaRPr lang="en-US" sz="950" dirty="0"/>
          </a:p>
        </p:txBody>
      </p:sp>
      <p:sp>
        <p:nvSpPr>
          <p:cNvPr id="8" name="Shape 5"/>
          <p:cNvSpPr/>
          <p:nvPr/>
        </p:nvSpPr>
        <p:spPr>
          <a:xfrm>
            <a:off x="365760" y="2316480"/>
            <a:ext cx="4206240" cy="935736"/>
          </a:xfrm>
          <a:prstGeom prst="roundRect">
            <a:avLst>
              <a:gd name="adj" fmla="val 9772"/>
            </a:avLst>
          </a:prstGeom>
          <a:solidFill>
            <a:srgbClr val="FFFFFF">
              <a:alpha val="10000"/>
            </a:srgbClr>
          </a:solidFill>
          <a:ln w="9525">
            <a:solidFill>
              <a:srgbClr val="EFF1F3">
                <a:alpha val="25000"/>
              </a:srgbClr>
            </a:solidFill>
            <a:prstDash val="solid"/>
          </a:ln>
        </p:spPr>
      </p:sp>
      <p:sp>
        <p:nvSpPr>
          <p:cNvPr id="9" name="Text 6"/>
          <p:cNvSpPr txBox="1"/>
          <p:nvPr/>
        </p:nvSpPr>
        <p:spPr>
          <a:xfrm>
            <a:off x="420624" y="2353056"/>
            <a:ext cx="4096512" cy="86258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Min anfusihim</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Dari golongan mereka sendiri; bermakna guru memahami bahasa, budaya, dan persoalan nyata murid (Pembacaan penulis).</a:t>
            </a:r>
            <a:endParaRPr lang="en-US" sz="950" dirty="0"/>
          </a:p>
        </p:txBody>
      </p:sp>
      <p:sp>
        <p:nvSpPr>
          <p:cNvPr id="10" name="Shape 7"/>
          <p:cNvSpPr/>
          <p:nvPr/>
        </p:nvSpPr>
        <p:spPr>
          <a:xfrm>
            <a:off x="365760" y="3307080"/>
            <a:ext cx="4206240" cy="935736"/>
          </a:xfrm>
          <a:prstGeom prst="roundRect">
            <a:avLst>
              <a:gd name="adj" fmla="val 9772"/>
            </a:avLst>
          </a:prstGeom>
          <a:solidFill>
            <a:srgbClr val="FFFFFF">
              <a:alpha val="10000"/>
            </a:srgbClr>
          </a:solidFill>
          <a:ln w="9525">
            <a:solidFill>
              <a:srgbClr val="EFF1F3">
                <a:alpha val="25000"/>
              </a:srgbClr>
            </a:solidFill>
            <a:prstDash val="solid"/>
          </a:ln>
        </p:spPr>
      </p:sp>
      <p:sp>
        <p:nvSpPr>
          <p:cNvPr id="11" name="Text 8"/>
          <p:cNvSpPr txBox="1"/>
          <p:nvPr/>
        </p:nvSpPr>
        <p:spPr>
          <a:xfrm>
            <a:off x="420624" y="3343656"/>
            <a:ext cx="4096512" cy="86258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Penutup dhalalin mubin</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Tujuan tiga fungsi: pembebasan dari kesesatan yang nyata (Quthb, 2003b).</a:t>
            </a:r>
            <a:endParaRPr lang="en-US" sz="950" dirty="0"/>
          </a:p>
        </p:txBody>
      </p:sp>
      <p:sp>
        <p:nvSpPr>
          <p:cNvPr id="12" name="Text 9"/>
          <p:cNvSpPr txBox="1"/>
          <p:nvPr/>
        </p:nvSpPr>
        <p:spPr>
          <a:xfrm>
            <a:off x="4663440" y="1051560"/>
            <a:ext cx="4114800" cy="256032"/>
          </a:xfrm>
          <a:prstGeom prst="rect">
            <a:avLst/>
          </a:prstGeom>
          <a:noFill/>
          <a:ln/>
        </p:spPr>
        <p:txBody>
          <a:bodyPr wrap="square" lIns="0" tIns="0" rIns="0" bIns="0" rtlCol="0" anchor="ctr"/>
          <a:lstStyle/>
          <a:p>
            <a:pPr indent="0" marL="0">
              <a:buNone/>
            </a:pPr>
            <a:r>
              <a:rPr lang="en-US" sz="1100" b="1" dirty="0">
                <a:solidFill>
                  <a:srgbClr val="F0B060"/>
                </a:solidFill>
                <a:latin typeface="Arial" pitchFamily="34" charset="0"/>
                <a:ea typeface="Arial" pitchFamily="34" charset="-122"/>
                <a:cs typeface="Arial" pitchFamily="34" charset="-120"/>
              </a:rPr>
              <a:t>QS. Al-Baqarah [2]: 129</a:t>
            </a:r>
            <a:endParaRPr lang="en-US" sz="1100" dirty="0"/>
          </a:p>
        </p:txBody>
      </p:sp>
      <p:sp>
        <p:nvSpPr>
          <p:cNvPr id="13" name="Shape 10"/>
          <p:cNvSpPr/>
          <p:nvPr/>
        </p:nvSpPr>
        <p:spPr>
          <a:xfrm>
            <a:off x="4663440" y="1325880"/>
            <a:ext cx="4206240" cy="935736"/>
          </a:xfrm>
          <a:prstGeom prst="roundRect">
            <a:avLst>
              <a:gd name="adj" fmla="val 9772"/>
            </a:avLst>
          </a:prstGeom>
          <a:solidFill>
            <a:srgbClr val="FFFFFF">
              <a:alpha val="10000"/>
            </a:srgbClr>
          </a:solidFill>
          <a:ln w="9525">
            <a:solidFill>
              <a:srgbClr val="EFF1F3">
                <a:alpha val="25000"/>
              </a:srgbClr>
            </a:solidFill>
            <a:prstDash val="solid"/>
          </a:ln>
        </p:spPr>
      </p:sp>
      <p:sp>
        <p:nvSpPr>
          <p:cNvPr id="14" name="Text 11"/>
          <p:cNvSpPr txBox="1"/>
          <p:nvPr/>
        </p:nvSpPr>
        <p:spPr>
          <a:xfrm>
            <a:off x="4718304" y="1362456"/>
            <a:ext cx="4096512" cy="86258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Bentuk doa Nabi Ibrahim</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Terkabul melalui pengutusan Nabi Muhammad saw. (Al-Qurthubi, 2006b; At-Thabari, 2009b; Ibnu Katsir, 2004b).</a:t>
            </a:r>
            <a:endParaRPr lang="en-US" sz="950" dirty="0"/>
          </a:p>
        </p:txBody>
      </p:sp>
      <p:sp>
        <p:nvSpPr>
          <p:cNvPr id="15" name="Shape 12"/>
          <p:cNvSpPr/>
          <p:nvPr/>
        </p:nvSpPr>
        <p:spPr>
          <a:xfrm>
            <a:off x="4663440" y="2316480"/>
            <a:ext cx="4206240" cy="935736"/>
          </a:xfrm>
          <a:prstGeom prst="roundRect">
            <a:avLst>
              <a:gd name="adj" fmla="val 9772"/>
            </a:avLst>
          </a:prstGeom>
          <a:solidFill>
            <a:srgbClr val="FFFFFF">
              <a:alpha val="10000"/>
            </a:srgbClr>
          </a:solidFill>
          <a:ln w="9525">
            <a:solidFill>
              <a:srgbClr val="EFF1F3">
                <a:alpha val="25000"/>
              </a:srgbClr>
            </a:solidFill>
            <a:prstDash val="solid"/>
          </a:ln>
        </p:spPr>
      </p:sp>
      <p:sp>
        <p:nvSpPr>
          <p:cNvPr id="16" name="Text 13"/>
          <p:cNvSpPr txBox="1"/>
          <p:nvPr/>
        </p:nvSpPr>
        <p:spPr>
          <a:xfrm>
            <a:off x="4718304" y="2353056"/>
            <a:ext cx="4096512" cy="86258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Ta'lim disebut sebelum tazkiyah</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Pada doa, yang disebut lebih dahulu adalah isi permohonan; pada ayat terkabulnya, urutan mencerminkan prioritas pelaksanaan (Interpretasi penulis, perlu diuji).</a:t>
            </a:r>
            <a:endParaRPr lang="en-US" sz="950" dirty="0"/>
          </a:p>
        </p:txBody>
      </p:sp>
      <p:sp>
        <p:nvSpPr>
          <p:cNvPr id="17" name="Shape 14"/>
          <p:cNvSpPr/>
          <p:nvPr/>
        </p:nvSpPr>
        <p:spPr>
          <a:xfrm>
            <a:off x="4663440" y="3307080"/>
            <a:ext cx="4206240" cy="935736"/>
          </a:xfrm>
          <a:prstGeom prst="roundRect">
            <a:avLst>
              <a:gd name="adj" fmla="val 9772"/>
            </a:avLst>
          </a:prstGeom>
          <a:solidFill>
            <a:srgbClr val="FFFFFF">
              <a:alpha val="10000"/>
            </a:srgbClr>
          </a:solidFill>
          <a:ln w="9525">
            <a:solidFill>
              <a:srgbClr val="EFF1F3">
                <a:alpha val="25000"/>
              </a:srgbClr>
            </a:solidFill>
            <a:prstDash val="solid"/>
          </a:ln>
        </p:spPr>
      </p:sp>
      <p:sp>
        <p:nvSpPr>
          <p:cNvPr id="18" name="Text 15"/>
          <p:cNvSpPr txBox="1"/>
          <p:nvPr/>
        </p:nvSpPr>
        <p:spPr>
          <a:xfrm>
            <a:off x="4718304" y="3343656"/>
            <a:ext cx="4096512" cy="862584"/>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Penutup Al-'Aziz Al-Hakim</a:t>
            </a:r>
            <a:endParaRPr lang="en-US" sz="950" dirty="0"/>
          </a:p>
          <a:p>
            <a:pPr indent="0" marL="0">
              <a:spcAft>
                <a:spcPts val="200"/>
              </a:spcAft>
              <a:buNone/>
            </a:pPr>
            <a:r>
              <a:rPr lang="en-US" sz="800" dirty="0">
                <a:solidFill>
                  <a:srgbClr val="EFF1F3"/>
                </a:solidFill>
                <a:latin typeface="Arial" pitchFamily="34" charset="0"/>
                <a:ea typeface="Arial" pitchFamily="34" charset="-122"/>
                <a:cs typeface="Arial" pitchFamily="34" charset="-120"/>
              </a:rPr>
              <a:t>Doa ditutup dengan asma Allah Al-'Aziz Al-Hakim.</a:t>
            </a:r>
            <a:endParaRPr lang="en-US" sz="950" dirty="0"/>
          </a:p>
        </p:txBody>
      </p:sp>
      <p:pic>
        <p:nvPicPr>
          <p:cNvPr id="19" name="Image 1" descr="img/man_hop.png">    </p:cNvPr>
          <p:cNvPicPr>
            <a:picLocks noChangeAspect="1"/>
          </p:cNvPicPr>
          <p:nvPr/>
        </p:nvPicPr>
        <p:blipFill>
          <a:blip r:embed="rId3"/>
          <a:stretch>
            <a:fillRect/>
          </a:stretch>
        </p:blipFill>
        <p:spPr>
          <a:xfrm>
            <a:off x="8138160" y="4297680"/>
            <a:ext cx="544068" cy="7772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1900" b="1" dirty="0">
                <a:solidFill>
                  <a:srgbClr val="EFF1F3"/>
                </a:solidFill>
                <a:latin typeface="Arial" pitchFamily="34" charset="0"/>
                <a:ea typeface="Arial" pitchFamily="34" charset="-122"/>
                <a:cs typeface="Arial" pitchFamily="34" charset="-120"/>
              </a:rPr>
              <a:t>Dari ayat ke fungsi kenabian, lalu ke kompetensi guru</a:t>
            </a:r>
            <a:endParaRPr lang="en-US" sz="1900" dirty="0"/>
          </a:p>
        </p:txBody>
      </p:sp>
      <p:sp>
        <p:nvSpPr>
          <p:cNvPr id="5" name="Text 2"/>
          <p:cNvSpPr txBox="1"/>
          <p:nvPr/>
        </p:nvSpPr>
        <p:spPr>
          <a:xfrm>
            <a:off x="365760" y="914400"/>
            <a:ext cx="2011680" cy="228600"/>
          </a:xfrm>
          <a:prstGeom prst="rect">
            <a:avLst/>
          </a:prstGeom>
          <a:noFill/>
          <a:ln/>
        </p:spPr>
        <p:txBody>
          <a:bodyPr wrap="square" lIns="0" tIns="0" rIns="0" bIns="0" rtlCol="0" anchor="ctr"/>
          <a:lstStyle/>
          <a:p>
            <a:pPr indent="0" marL="0">
              <a:buNone/>
            </a:pPr>
            <a:r>
              <a:rPr lang="en-US" sz="950" dirty="0">
                <a:solidFill>
                  <a:srgbClr val="F0B060"/>
                </a:solidFill>
                <a:latin typeface="Arial" pitchFamily="34" charset="0"/>
                <a:ea typeface="Arial" pitchFamily="34" charset="-122"/>
                <a:cs typeface="Arial" pitchFamily="34" charset="-120"/>
              </a:rPr>
              <a:t>Ayat</a:t>
            </a:r>
            <a:endParaRPr lang="en-US" sz="950" dirty="0"/>
          </a:p>
        </p:txBody>
      </p:sp>
      <p:sp>
        <p:nvSpPr>
          <p:cNvPr id="6" name="Text 3"/>
          <p:cNvSpPr txBox="1"/>
          <p:nvPr/>
        </p:nvSpPr>
        <p:spPr>
          <a:xfrm>
            <a:off x="2331720" y="914400"/>
            <a:ext cx="2011680" cy="228600"/>
          </a:xfrm>
          <a:prstGeom prst="rect">
            <a:avLst/>
          </a:prstGeom>
          <a:noFill/>
          <a:ln/>
        </p:spPr>
        <p:txBody>
          <a:bodyPr wrap="square" lIns="0" tIns="0" rIns="0" bIns="0" rtlCol="0" anchor="ctr"/>
          <a:lstStyle/>
          <a:p>
            <a:pPr indent="0" marL="0">
              <a:buNone/>
            </a:pPr>
            <a:r>
              <a:rPr lang="en-US" sz="950" dirty="0">
                <a:solidFill>
                  <a:srgbClr val="F0B060"/>
                </a:solidFill>
                <a:latin typeface="Arial" pitchFamily="34" charset="0"/>
                <a:ea typeface="Arial" pitchFamily="34" charset="-122"/>
                <a:cs typeface="Arial" pitchFamily="34" charset="-120"/>
              </a:rPr>
              <a:t>Fungsi kenabian</a:t>
            </a:r>
            <a:endParaRPr lang="en-US" sz="950" dirty="0"/>
          </a:p>
        </p:txBody>
      </p:sp>
      <p:sp>
        <p:nvSpPr>
          <p:cNvPr id="7" name="Text 4"/>
          <p:cNvSpPr txBox="1"/>
          <p:nvPr/>
        </p:nvSpPr>
        <p:spPr>
          <a:xfrm>
            <a:off x="4617720" y="914400"/>
            <a:ext cx="2011680" cy="228600"/>
          </a:xfrm>
          <a:prstGeom prst="rect">
            <a:avLst/>
          </a:prstGeom>
          <a:noFill/>
          <a:ln/>
        </p:spPr>
        <p:txBody>
          <a:bodyPr wrap="square" lIns="0" tIns="0" rIns="0" bIns="0" rtlCol="0" anchor="ctr"/>
          <a:lstStyle/>
          <a:p>
            <a:pPr indent="0" marL="0">
              <a:buNone/>
            </a:pPr>
            <a:r>
              <a:rPr lang="en-US" sz="950" dirty="0">
                <a:solidFill>
                  <a:srgbClr val="F0B060"/>
                </a:solidFill>
                <a:latin typeface="Arial" pitchFamily="34" charset="0"/>
                <a:ea typeface="Arial" pitchFamily="34" charset="-122"/>
                <a:cs typeface="Arial" pitchFamily="34" charset="-120"/>
              </a:rPr>
              <a:t>Kompetensi guru</a:t>
            </a:r>
            <a:endParaRPr lang="en-US" sz="950" dirty="0"/>
          </a:p>
        </p:txBody>
      </p:sp>
      <p:sp>
        <p:nvSpPr>
          <p:cNvPr id="8" name="Text 5"/>
          <p:cNvSpPr txBox="1"/>
          <p:nvPr/>
        </p:nvSpPr>
        <p:spPr>
          <a:xfrm>
            <a:off x="6766560" y="914400"/>
            <a:ext cx="2011680" cy="228600"/>
          </a:xfrm>
          <a:prstGeom prst="rect">
            <a:avLst/>
          </a:prstGeom>
          <a:noFill/>
          <a:ln/>
        </p:spPr>
        <p:txBody>
          <a:bodyPr wrap="square" lIns="0" tIns="0" rIns="0" bIns="0" rtlCol="0" anchor="ctr"/>
          <a:lstStyle/>
          <a:p>
            <a:pPr indent="0" marL="0">
              <a:buNone/>
            </a:pPr>
            <a:r>
              <a:rPr lang="en-US" sz="950" dirty="0">
                <a:solidFill>
                  <a:srgbClr val="F0B060"/>
                </a:solidFill>
                <a:latin typeface="Arial" pitchFamily="34" charset="0"/>
                <a:ea typeface="Arial" pitchFamily="34" charset="-122"/>
                <a:cs typeface="Arial" pitchFamily="34" charset="-120"/>
              </a:rPr>
              <a:t>Implikasi</a:t>
            </a:r>
            <a:endParaRPr lang="en-US" sz="950" dirty="0"/>
          </a:p>
        </p:txBody>
      </p:sp>
      <p:sp>
        <p:nvSpPr>
          <p:cNvPr id="9" name="Shape 6"/>
          <p:cNvSpPr/>
          <p:nvPr/>
        </p:nvSpPr>
        <p:spPr>
          <a:xfrm>
            <a:off x="365760" y="2103120"/>
            <a:ext cx="1600200" cy="1097280"/>
          </a:xfrm>
          <a:prstGeom prst="roundRect">
            <a:avLst>
              <a:gd name="adj" fmla="val 8333"/>
            </a:avLst>
          </a:prstGeom>
          <a:solidFill>
            <a:srgbClr val="FFFFFF">
              <a:alpha val="10000"/>
            </a:srgbClr>
          </a:solidFill>
          <a:ln w="9525">
            <a:solidFill>
              <a:srgbClr val="EFF1F3">
                <a:alpha val="25000"/>
              </a:srgbClr>
            </a:solidFill>
            <a:prstDash val="solid"/>
          </a:ln>
        </p:spPr>
      </p:sp>
      <p:sp>
        <p:nvSpPr>
          <p:cNvPr id="10" name="Text 7"/>
          <p:cNvSpPr txBox="1"/>
          <p:nvPr/>
        </p:nvSpPr>
        <p:spPr>
          <a:xfrm>
            <a:off x="420624" y="2139696"/>
            <a:ext cx="1490472" cy="102412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QS. Al-Jumu’ah</a:t>
            </a:r>
            <a:endParaRPr lang="en-US" sz="110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[62]: 2</a:t>
            </a:r>
            <a:endParaRPr lang="en-US" sz="1100" dirty="0"/>
          </a:p>
        </p:txBody>
      </p:sp>
      <p:sp>
        <p:nvSpPr>
          <p:cNvPr id="11" name="Shape 8"/>
          <p:cNvSpPr/>
          <p:nvPr/>
        </p:nvSpPr>
        <p:spPr>
          <a:xfrm flipV="1">
            <a:off x="1965960" y="2651760"/>
            <a:ext cx="365760" cy="-1143000"/>
          </a:xfrm>
          <a:prstGeom prst="line">
            <a:avLst/>
          </a:prstGeom>
          <a:noFill/>
          <a:ln w="19050">
            <a:solidFill>
              <a:srgbClr val="CC7722"/>
            </a:solidFill>
            <a:prstDash val="solid"/>
          </a:ln>
        </p:spPr>
      </p:sp>
      <p:sp>
        <p:nvSpPr>
          <p:cNvPr id="12" name="Shape 9"/>
          <p:cNvSpPr/>
          <p:nvPr/>
        </p:nvSpPr>
        <p:spPr>
          <a:xfrm>
            <a:off x="4206240" y="1508760"/>
            <a:ext cx="411480" cy="0"/>
          </a:xfrm>
          <a:prstGeom prst="line">
            <a:avLst/>
          </a:prstGeom>
          <a:noFill/>
          <a:ln w="25400">
            <a:solidFill>
              <a:srgbClr val="CC7722"/>
            </a:solidFill>
            <a:prstDash val="solid"/>
          </a:ln>
        </p:spPr>
      </p:sp>
      <p:sp>
        <p:nvSpPr>
          <p:cNvPr id="13" name="Shape 10"/>
          <p:cNvSpPr/>
          <p:nvPr/>
        </p:nvSpPr>
        <p:spPr>
          <a:xfrm>
            <a:off x="4206240" y="1508760"/>
            <a:ext cx="411480" cy="1554480"/>
          </a:xfrm>
          <a:prstGeom prst="line">
            <a:avLst/>
          </a:prstGeom>
          <a:noFill/>
          <a:ln w="12700">
            <a:solidFill>
              <a:srgbClr val="EFF1F3"/>
            </a:solidFill>
            <a:prstDash val="dash"/>
          </a:ln>
        </p:spPr>
      </p:sp>
      <p:sp>
        <p:nvSpPr>
          <p:cNvPr id="14" name="Shape 11"/>
          <p:cNvSpPr/>
          <p:nvPr/>
        </p:nvSpPr>
        <p:spPr>
          <a:xfrm flipV="1">
            <a:off x="1965960" y="2651760"/>
            <a:ext cx="365760" cy="-365760"/>
          </a:xfrm>
          <a:prstGeom prst="line">
            <a:avLst/>
          </a:prstGeom>
          <a:noFill/>
          <a:ln w="19050">
            <a:solidFill>
              <a:srgbClr val="CC7722"/>
            </a:solidFill>
            <a:prstDash val="solid"/>
          </a:ln>
        </p:spPr>
      </p:sp>
      <p:sp>
        <p:nvSpPr>
          <p:cNvPr id="15" name="Shape 12"/>
          <p:cNvSpPr/>
          <p:nvPr/>
        </p:nvSpPr>
        <p:spPr>
          <a:xfrm>
            <a:off x="4206240" y="2286000"/>
            <a:ext cx="411480" cy="0"/>
          </a:xfrm>
          <a:prstGeom prst="line">
            <a:avLst/>
          </a:prstGeom>
          <a:noFill/>
          <a:ln w="25400">
            <a:solidFill>
              <a:srgbClr val="CC7722"/>
            </a:solidFill>
            <a:prstDash val="solid"/>
          </a:ln>
        </p:spPr>
      </p:sp>
      <p:sp>
        <p:nvSpPr>
          <p:cNvPr id="16" name="Shape 13"/>
          <p:cNvSpPr/>
          <p:nvPr/>
        </p:nvSpPr>
        <p:spPr>
          <a:xfrm>
            <a:off x="4206240" y="2286000"/>
            <a:ext cx="411480" cy="1554480"/>
          </a:xfrm>
          <a:prstGeom prst="line">
            <a:avLst/>
          </a:prstGeom>
          <a:noFill/>
          <a:ln w="12700">
            <a:solidFill>
              <a:srgbClr val="EFF1F3"/>
            </a:solidFill>
            <a:prstDash val="dash"/>
          </a:ln>
        </p:spPr>
      </p:sp>
      <p:sp>
        <p:nvSpPr>
          <p:cNvPr id="17" name="Shape 14"/>
          <p:cNvSpPr/>
          <p:nvPr/>
        </p:nvSpPr>
        <p:spPr>
          <a:xfrm>
            <a:off x="1965960" y="2651760"/>
            <a:ext cx="365760" cy="411480"/>
          </a:xfrm>
          <a:prstGeom prst="line">
            <a:avLst/>
          </a:prstGeom>
          <a:noFill/>
          <a:ln w="19050">
            <a:solidFill>
              <a:srgbClr val="CC7722"/>
            </a:solidFill>
            <a:prstDash val="solid"/>
          </a:ln>
        </p:spPr>
      </p:sp>
      <p:sp>
        <p:nvSpPr>
          <p:cNvPr id="18" name="Shape 15"/>
          <p:cNvSpPr/>
          <p:nvPr/>
        </p:nvSpPr>
        <p:spPr>
          <a:xfrm>
            <a:off x="4206240" y="3063240"/>
            <a:ext cx="411480" cy="0"/>
          </a:xfrm>
          <a:prstGeom prst="line">
            <a:avLst/>
          </a:prstGeom>
          <a:noFill/>
          <a:ln w="25400">
            <a:solidFill>
              <a:srgbClr val="CC7722"/>
            </a:solidFill>
            <a:prstDash val="solid"/>
          </a:ln>
        </p:spPr>
      </p:sp>
      <p:sp>
        <p:nvSpPr>
          <p:cNvPr id="19" name="Shape 16"/>
          <p:cNvSpPr/>
          <p:nvPr/>
        </p:nvSpPr>
        <p:spPr>
          <a:xfrm flipV="1">
            <a:off x="4206240" y="3063240"/>
            <a:ext cx="411480" cy="-1554480"/>
          </a:xfrm>
          <a:prstGeom prst="line">
            <a:avLst/>
          </a:prstGeom>
          <a:noFill/>
          <a:ln w="12700">
            <a:solidFill>
              <a:srgbClr val="EFF1F3"/>
            </a:solidFill>
            <a:prstDash val="dash"/>
          </a:ln>
        </p:spPr>
      </p:sp>
      <p:sp>
        <p:nvSpPr>
          <p:cNvPr id="20" name="Shape 17"/>
          <p:cNvSpPr/>
          <p:nvPr/>
        </p:nvSpPr>
        <p:spPr>
          <a:xfrm>
            <a:off x="1965960" y="2651760"/>
            <a:ext cx="365760" cy="1188720"/>
          </a:xfrm>
          <a:prstGeom prst="line">
            <a:avLst/>
          </a:prstGeom>
          <a:noFill/>
          <a:ln w="19050">
            <a:solidFill>
              <a:srgbClr val="CC7722"/>
            </a:solidFill>
            <a:prstDash val="solid"/>
          </a:ln>
        </p:spPr>
      </p:sp>
      <p:sp>
        <p:nvSpPr>
          <p:cNvPr id="21" name="Shape 18"/>
          <p:cNvSpPr/>
          <p:nvPr/>
        </p:nvSpPr>
        <p:spPr>
          <a:xfrm>
            <a:off x="4206240" y="3840480"/>
            <a:ext cx="411480" cy="0"/>
          </a:xfrm>
          <a:prstGeom prst="line">
            <a:avLst/>
          </a:prstGeom>
          <a:noFill/>
          <a:ln w="25400">
            <a:solidFill>
              <a:srgbClr val="CC7722"/>
            </a:solidFill>
            <a:prstDash val="solid"/>
          </a:ln>
        </p:spPr>
      </p:sp>
      <p:sp>
        <p:nvSpPr>
          <p:cNvPr id="22" name="Shape 19"/>
          <p:cNvSpPr/>
          <p:nvPr/>
        </p:nvSpPr>
        <p:spPr>
          <a:xfrm flipV="1">
            <a:off x="4206240" y="3840480"/>
            <a:ext cx="411480" cy="-1554480"/>
          </a:xfrm>
          <a:prstGeom prst="line">
            <a:avLst/>
          </a:prstGeom>
          <a:noFill/>
          <a:ln w="12700">
            <a:solidFill>
              <a:srgbClr val="EFF1F3"/>
            </a:solidFill>
            <a:prstDash val="dash"/>
          </a:ln>
        </p:spPr>
      </p:sp>
      <p:sp>
        <p:nvSpPr>
          <p:cNvPr id="23" name="Shape 20"/>
          <p:cNvSpPr/>
          <p:nvPr/>
        </p:nvSpPr>
        <p:spPr>
          <a:xfrm>
            <a:off x="2331720" y="1234440"/>
            <a:ext cx="187452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24" name="Text 21"/>
          <p:cNvSpPr txBox="1"/>
          <p:nvPr/>
        </p:nvSpPr>
        <p:spPr>
          <a:xfrm>
            <a:off x="2386584" y="1271016"/>
            <a:ext cx="176479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Tilawah</a:t>
            </a:r>
            <a:endParaRPr lang="en-US" sz="1100" dirty="0"/>
          </a:p>
        </p:txBody>
      </p:sp>
      <p:sp>
        <p:nvSpPr>
          <p:cNvPr id="25" name="Shape 22"/>
          <p:cNvSpPr/>
          <p:nvPr/>
        </p:nvSpPr>
        <p:spPr>
          <a:xfrm>
            <a:off x="2331720" y="2011680"/>
            <a:ext cx="1874520" cy="548640"/>
          </a:xfrm>
          <a:prstGeom prst="roundRect">
            <a:avLst>
              <a:gd name="adj" fmla="val 16667"/>
            </a:avLst>
          </a:prstGeom>
          <a:solidFill>
            <a:srgbClr val="CC7722">
              <a:alpha val="55000"/>
            </a:srgbClr>
          </a:solidFill>
          <a:ln w="9525">
            <a:solidFill>
              <a:srgbClr val="F0B060"/>
            </a:solidFill>
            <a:prstDash val="solid"/>
          </a:ln>
        </p:spPr>
      </p:sp>
      <p:sp>
        <p:nvSpPr>
          <p:cNvPr id="26" name="Text 23"/>
          <p:cNvSpPr txBox="1"/>
          <p:nvPr/>
        </p:nvSpPr>
        <p:spPr>
          <a:xfrm>
            <a:off x="2386584" y="2048256"/>
            <a:ext cx="176479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Tazkiyah</a:t>
            </a:r>
            <a:endParaRPr lang="en-US" sz="1100" dirty="0"/>
          </a:p>
        </p:txBody>
      </p:sp>
      <p:sp>
        <p:nvSpPr>
          <p:cNvPr id="27" name="Shape 24"/>
          <p:cNvSpPr/>
          <p:nvPr/>
        </p:nvSpPr>
        <p:spPr>
          <a:xfrm>
            <a:off x="2331720" y="2788920"/>
            <a:ext cx="187452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28" name="Text 25"/>
          <p:cNvSpPr txBox="1"/>
          <p:nvPr/>
        </p:nvSpPr>
        <p:spPr>
          <a:xfrm>
            <a:off x="2386584" y="2825496"/>
            <a:ext cx="176479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Ta'lim al-Kitab</a:t>
            </a:r>
            <a:endParaRPr lang="en-US" sz="1100" dirty="0"/>
          </a:p>
        </p:txBody>
      </p:sp>
      <p:sp>
        <p:nvSpPr>
          <p:cNvPr id="29" name="Shape 26"/>
          <p:cNvSpPr/>
          <p:nvPr/>
        </p:nvSpPr>
        <p:spPr>
          <a:xfrm>
            <a:off x="2331720" y="3566160"/>
            <a:ext cx="187452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30" name="Text 27"/>
          <p:cNvSpPr txBox="1"/>
          <p:nvPr/>
        </p:nvSpPr>
        <p:spPr>
          <a:xfrm>
            <a:off x="2386584" y="3602736"/>
            <a:ext cx="176479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Ta'lim al-Hikmah</a:t>
            </a:r>
            <a:endParaRPr lang="en-US" sz="1100" dirty="0"/>
          </a:p>
        </p:txBody>
      </p:sp>
      <p:sp>
        <p:nvSpPr>
          <p:cNvPr id="31" name="Shape 28"/>
          <p:cNvSpPr/>
          <p:nvPr/>
        </p:nvSpPr>
        <p:spPr>
          <a:xfrm>
            <a:off x="4617720" y="1234440"/>
            <a:ext cx="192024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32" name="Text 29"/>
          <p:cNvSpPr txBox="1"/>
          <p:nvPr/>
        </p:nvSpPr>
        <p:spPr>
          <a:xfrm>
            <a:off x="4672584" y="1271016"/>
            <a:ext cx="181051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Pedagogik</a:t>
            </a:r>
            <a:endParaRPr lang="en-US" sz="1100" dirty="0"/>
          </a:p>
        </p:txBody>
      </p:sp>
      <p:sp>
        <p:nvSpPr>
          <p:cNvPr id="33" name="Shape 30"/>
          <p:cNvSpPr/>
          <p:nvPr/>
        </p:nvSpPr>
        <p:spPr>
          <a:xfrm>
            <a:off x="4617720" y="2011680"/>
            <a:ext cx="192024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34" name="Text 31"/>
          <p:cNvSpPr txBox="1"/>
          <p:nvPr/>
        </p:nvSpPr>
        <p:spPr>
          <a:xfrm>
            <a:off x="4672584" y="2048256"/>
            <a:ext cx="181051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Kepribadian</a:t>
            </a:r>
            <a:endParaRPr lang="en-US" sz="1100" dirty="0"/>
          </a:p>
        </p:txBody>
      </p:sp>
      <p:sp>
        <p:nvSpPr>
          <p:cNvPr id="35" name="Shape 32"/>
          <p:cNvSpPr/>
          <p:nvPr/>
        </p:nvSpPr>
        <p:spPr>
          <a:xfrm>
            <a:off x="4617720" y="2788920"/>
            <a:ext cx="192024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36" name="Text 33"/>
          <p:cNvSpPr txBox="1"/>
          <p:nvPr/>
        </p:nvSpPr>
        <p:spPr>
          <a:xfrm>
            <a:off x="4672584" y="2825496"/>
            <a:ext cx="181051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Profesional</a:t>
            </a:r>
            <a:endParaRPr lang="en-US" sz="1100" dirty="0"/>
          </a:p>
        </p:txBody>
      </p:sp>
      <p:sp>
        <p:nvSpPr>
          <p:cNvPr id="37" name="Shape 34"/>
          <p:cNvSpPr/>
          <p:nvPr/>
        </p:nvSpPr>
        <p:spPr>
          <a:xfrm>
            <a:off x="4617720" y="3566160"/>
            <a:ext cx="1920240" cy="548640"/>
          </a:xfrm>
          <a:prstGeom prst="roundRect">
            <a:avLst>
              <a:gd name="adj" fmla="val 16667"/>
            </a:avLst>
          </a:prstGeom>
          <a:solidFill>
            <a:srgbClr val="FFFFFF">
              <a:alpha val="10000"/>
            </a:srgbClr>
          </a:solidFill>
          <a:ln w="9525">
            <a:solidFill>
              <a:srgbClr val="EFF1F3">
                <a:alpha val="25000"/>
              </a:srgbClr>
            </a:solidFill>
            <a:prstDash val="solid"/>
          </a:ln>
        </p:spPr>
      </p:sp>
      <p:sp>
        <p:nvSpPr>
          <p:cNvPr id="38" name="Text 35"/>
          <p:cNvSpPr txBox="1"/>
          <p:nvPr/>
        </p:nvSpPr>
        <p:spPr>
          <a:xfrm>
            <a:off x="4672584" y="3602736"/>
            <a:ext cx="1810512" cy="475488"/>
          </a:xfrm>
          <a:prstGeom prst="rect">
            <a:avLst/>
          </a:prstGeom>
          <a:noFill/>
          <a:ln/>
        </p:spPr>
        <p:txBody>
          <a:bodyPr wrap="square" lIns="508" tIns="762" rIns="762" bIns="508" rtlCol="0" anchor="ctr"/>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Sosial</a:t>
            </a:r>
            <a:endParaRPr lang="en-US" sz="1100" dirty="0"/>
          </a:p>
        </p:txBody>
      </p:sp>
      <p:sp>
        <p:nvSpPr>
          <p:cNvPr id="39" name="Shape 36"/>
          <p:cNvSpPr/>
          <p:nvPr/>
        </p:nvSpPr>
        <p:spPr>
          <a:xfrm>
            <a:off x="6766560" y="1234440"/>
            <a:ext cx="2011680" cy="2880360"/>
          </a:xfrm>
          <a:prstGeom prst="roundRect">
            <a:avLst>
              <a:gd name="adj" fmla="val 4545"/>
            </a:avLst>
          </a:prstGeom>
          <a:solidFill>
            <a:srgbClr val="CC7722">
              <a:alpha val="55000"/>
            </a:srgbClr>
          </a:solidFill>
          <a:ln w="9525">
            <a:solidFill>
              <a:srgbClr val="F0B060"/>
            </a:solidFill>
            <a:prstDash val="solid"/>
          </a:ln>
        </p:spPr>
      </p:sp>
      <p:sp>
        <p:nvSpPr>
          <p:cNvPr id="40" name="Text 37"/>
          <p:cNvSpPr txBox="1"/>
          <p:nvPr/>
        </p:nvSpPr>
        <p:spPr>
          <a:xfrm>
            <a:off x="6821424" y="1271016"/>
            <a:ext cx="1901952" cy="2807208"/>
          </a:xfrm>
          <a:prstGeom prst="rect">
            <a:avLst/>
          </a:prstGeom>
          <a:noFill/>
          <a:ln/>
        </p:spPr>
        <p:txBody>
          <a:bodyPr wrap="square" lIns="508" tIns="762" rIns="762" bIns="508" rtlCol="0" anchor="t"/>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Implikasi</a:t>
            </a:r>
            <a:endParaRPr lang="en-US" sz="11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Kompetensi tidak lagi dipisahkan dalam sekat formalistis, dan profesi guru terangkat menjadi pengabdian kenabian (Azizah dkk., 2025; Yusuf dkk., 2024).</a:t>
            </a:r>
            <a:endParaRPr lang="en-US" sz="1100" dirty="0"/>
          </a:p>
        </p:txBody>
      </p:sp>
      <p:sp>
        <p:nvSpPr>
          <p:cNvPr id="41" name="Text 38"/>
          <p:cNvSpPr txBox="1"/>
          <p:nvPr/>
        </p:nvSpPr>
        <p:spPr>
          <a:xfrm>
            <a:off x="365760" y="4206240"/>
            <a:ext cx="6949440" cy="457200"/>
          </a:xfrm>
          <a:prstGeom prst="rect">
            <a:avLst/>
          </a:prstGeom>
          <a:noFill/>
          <a:ln/>
        </p:spPr>
        <p:txBody>
          <a:bodyPr wrap="square" lIns="0" tIns="0" rIns="0" bIns="0" rtlCol="0" anchor="ctr"/>
          <a:lstStyle/>
          <a:p>
            <a:pPr indent="0" marL="0">
              <a:buNone/>
            </a:pPr>
            <a:r>
              <a:rPr lang="en-US" sz="850" dirty="0">
                <a:solidFill>
                  <a:srgbClr val="EFF1F3"/>
                </a:solidFill>
                <a:latin typeface="Arial" pitchFamily="34" charset="0"/>
                <a:ea typeface="Arial" pitchFamily="34" charset="-122"/>
                <a:cs typeface="Arial" pitchFamily="34" charset="-120"/>
              </a:rPr>
              <a:t>Garis tegas: kompetensi dominan. Garis putus: kompetensi sekunder. Tazkiyah sebagai poros pengikat (interpretasi penulis): berada di antara tilawah dan ta'lim pada tiga ayat.</a:t>
            </a:r>
            <a:endParaRPr lang="en-US" sz="850" dirty="0"/>
          </a:p>
        </p:txBody>
      </p:sp>
      <p:pic>
        <p:nvPicPr>
          <p:cNvPr id="42" name="Image 1" descr="img/man_dance.png">    </p:cNvPr>
          <p:cNvPicPr>
            <a:picLocks noChangeAspect="1"/>
          </p:cNvPicPr>
          <p:nvPr/>
        </p:nvPicPr>
        <p:blipFill>
          <a:blip r:embed="rId3"/>
          <a:stretch>
            <a:fillRect/>
          </a:stretch>
        </p:blipFill>
        <p:spPr>
          <a:xfrm>
            <a:off x="7955280" y="4251960"/>
            <a:ext cx="576072" cy="822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100" b="1" dirty="0">
                <a:solidFill>
                  <a:srgbClr val="EFF1F3"/>
                </a:solidFill>
                <a:latin typeface="Arial" pitchFamily="34" charset="0"/>
                <a:ea typeface="Arial" pitchFamily="34" charset="-122"/>
                <a:cs typeface="Arial" pitchFamily="34" charset="-120"/>
              </a:rPr>
              <a:t>Lima fungsi manajemen SDM sebagai satu siklus</a:t>
            </a:r>
            <a:endParaRPr lang="en-US" sz="2100" dirty="0"/>
          </a:p>
        </p:txBody>
      </p:sp>
      <p:sp>
        <p:nvSpPr>
          <p:cNvPr id="5" name="Shape 2"/>
          <p:cNvSpPr/>
          <p:nvPr/>
        </p:nvSpPr>
        <p:spPr>
          <a:xfrm>
            <a:off x="274320" y="1143000"/>
            <a:ext cx="1645920" cy="3017520"/>
          </a:xfrm>
          <a:prstGeom prst="roundRect">
            <a:avLst>
              <a:gd name="adj" fmla="val 5556"/>
            </a:avLst>
          </a:prstGeom>
          <a:solidFill>
            <a:srgbClr val="FFFFFF">
              <a:alpha val="10000"/>
            </a:srgbClr>
          </a:solidFill>
          <a:ln w="9525">
            <a:solidFill>
              <a:srgbClr val="EFF1F3">
                <a:alpha val="25000"/>
              </a:srgbClr>
            </a:solidFill>
            <a:prstDash val="solid"/>
          </a:ln>
        </p:spPr>
      </p:sp>
      <p:sp>
        <p:nvSpPr>
          <p:cNvPr id="6" name="Text 3"/>
          <p:cNvSpPr txBox="1"/>
          <p:nvPr/>
        </p:nvSpPr>
        <p:spPr>
          <a:xfrm>
            <a:off x="329184" y="1179576"/>
            <a:ext cx="1536192" cy="2944368"/>
          </a:xfrm>
          <a:prstGeom prst="rect">
            <a:avLst/>
          </a:prstGeom>
          <a:noFill/>
          <a:ln/>
        </p:spPr>
        <p:txBody>
          <a:bodyPr wrap="square" lIns="508" tIns="762" rIns="762" bIns="508" rtlCol="0" anchor="t"/>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01  Perencanaan</a:t>
            </a:r>
            <a:endParaRPr lang="en-US" sz="11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Tilawah dan ta'lim: profil kompetensi yang utuh. Analisis kebutuhan berbasis empat kompetensi; profil karakter calon.</a:t>
            </a:r>
            <a:endParaRPr lang="en-US" sz="11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(Apiyani, 2024; Lestari dkk., 2026)</a:t>
            </a:r>
            <a:endParaRPr lang="en-US" sz="1100" dirty="0"/>
          </a:p>
        </p:txBody>
      </p:sp>
      <p:sp>
        <p:nvSpPr>
          <p:cNvPr id="7" name="Shape 4"/>
          <p:cNvSpPr/>
          <p:nvPr/>
        </p:nvSpPr>
        <p:spPr>
          <a:xfrm>
            <a:off x="1920240" y="1051560"/>
            <a:ext cx="73152" cy="0"/>
          </a:xfrm>
          <a:prstGeom prst="line">
            <a:avLst/>
          </a:prstGeom>
          <a:noFill/>
          <a:ln w="25400">
            <a:solidFill>
              <a:srgbClr val="CC7722"/>
            </a:solidFill>
            <a:prstDash val="solid"/>
          </a:ln>
        </p:spPr>
      </p:sp>
      <p:sp>
        <p:nvSpPr>
          <p:cNvPr id="8" name="Shape 5"/>
          <p:cNvSpPr/>
          <p:nvPr/>
        </p:nvSpPr>
        <p:spPr>
          <a:xfrm>
            <a:off x="1993392" y="1143000"/>
            <a:ext cx="1645920" cy="3017520"/>
          </a:xfrm>
          <a:prstGeom prst="roundRect">
            <a:avLst>
              <a:gd name="adj" fmla="val 5556"/>
            </a:avLst>
          </a:prstGeom>
          <a:solidFill>
            <a:srgbClr val="FFFFFF">
              <a:alpha val="10000"/>
            </a:srgbClr>
          </a:solidFill>
          <a:ln w="9525">
            <a:solidFill>
              <a:srgbClr val="EFF1F3">
                <a:alpha val="25000"/>
              </a:srgbClr>
            </a:solidFill>
            <a:prstDash val="solid"/>
          </a:ln>
        </p:spPr>
      </p:sp>
      <p:sp>
        <p:nvSpPr>
          <p:cNvPr id="9" name="Text 6"/>
          <p:cNvSpPr txBox="1"/>
          <p:nvPr/>
        </p:nvSpPr>
        <p:spPr>
          <a:xfrm>
            <a:off x="2048256" y="1179576"/>
            <a:ext cx="1536192" cy="2944368"/>
          </a:xfrm>
          <a:prstGeom prst="rect">
            <a:avLst/>
          </a:prstGeom>
          <a:noFill/>
          <a:ln/>
        </p:spPr>
        <p:txBody>
          <a:bodyPr wrap="square" lIns="508" tIns="762" rIns="762" bIns="508" rtlCol="0" anchor="t"/>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02  Rekrutmen dan seleksi</a:t>
            </a:r>
            <a:endParaRPr lang="en-US" sz="11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Syura, amanah, 'adalah, meritokrasi. Seleksi berlapis dengan rubrik berbobot yang diumumkan sejak awal.</a:t>
            </a:r>
            <a:endParaRPr lang="en-US" sz="11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(Farid dkk., 2025)</a:t>
            </a:r>
            <a:endParaRPr lang="en-US" sz="1100" dirty="0"/>
          </a:p>
        </p:txBody>
      </p:sp>
      <p:sp>
        <p:nvSpPr>
          <p:cNvPr id="10" name="Shape 7"/>
          <p:cNvSpPr/>
          <p:nvPr/>
        </p:nvSpPr>
        <p:spPr>
          <a:xfrm>
            <a:off x="3639312" y="1051560"/>
            <a:ext cx="73152" cy="0"/>
          </a:xfrm>
          <a:prstGeom prst="line">
            <a:avLst/>
          </a:prstGeom>
          <a:noFill/>
          <a:ln w="25400">
            <a:solidFill>
              <a:srgbClr val="CC7722"/>
            </a:solidFill>
            <a:prstDash val="solid"/>
          </a:ln>
        </p:spPr>
      </p:sp>
      <p:sp>
        <p:nvSpPr>
          <p:cNvPr id="11" name="Shape 8"/>
          <p:cNvSpPr/>
          <p:nvPr/>
        </p:nvSpPr>
        <p:spPr>
          <a:xfrm>
            <a:off x="3712464" y="1143000"/>
            <a:ext cx="1645920" cy="3017520"/>
          </a:xfrm>
          <a:prstGeom prst="roundRect">
            <a:avLst>
              <a:gd name="adj" fmla="val 5556"/>
            </a:avLst>
          </a:prstGeom>
          <a:solidFill>
            <a:srgbClr val="FFFFFF">
              <a:alpha val="10000"/>
            </a:srgbClr>
          </a:solidFill>
          <a:ln w="9525">
            <a:solidFill>
              <a:srgbClr val="EFF1F3">
                <a:alpha val="25000"/>
              </a:srgbClr>
            </a:solidFill>
            <a:prstDash val="solid"/>
          </a:ln>
        </p:spPr>
      </p:sp>
      <p:sp>
        <p:nvSpPr>
          <p:cNvPr id="12" name="Text 9"/>
          <p:cNvSpPr txBox="1"/>
          <p:nvPr/>
        </p:nvSpPr>
        <p:spPr>
          <a:xfrm>
            <a:off x="3767328" y="1179576"/>
            <a:ext cx="1536192" cy="2944368"/>
          </a:xfrm>
          <a:prstGeom prst="rect">
            <a:avLst/>
          </a:prstGeom>
          <a:noFill/>
          <a:ln/>
        </p:spPr>
        <p:txBody>
          <a:bodyPr wrap="square" lIns="508" tIns="762" rIns="762" bIns="508" rtlCol="0" anchor="t"/>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03  Pembinaan dan pengembangan</a:t>
            </a:r>
            <a:endParaRPr lang="en-US" sz="11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Tazkiyah dan ta'lim yang berkelanjutan. Halaqah berkala, pelatihan pedagogik digital, MGMP, mentoring guru senior.</a:t>
            </a:r>
            <a:endParaRPr lang="en-US" sz="11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(Fahmi dkk., 2025; Rambe dkk., 2024)</a:t>
            </a:r>
            <a:endParaRPr lang="en-US" sz="1100" dirty="0"/>
          </a:p>
        </p:txBody>
      </p:sp>
      <p:sp>
        <p:nvSpPr>
          <p:cNvPr id="13" name="Shape 10"/>
          <p:cNvSpPr/>
          <p:nvPr/>
        </p:nvSpPr>
        <p:spPr>
          <a:xfrm>
            <a:off x="5358384" y="1051560"/>
            <a:ext cx="73152" cy="0"/>
          </a:xfrm>
          <a:prstGeom prst="line">
            <a:avLst/>
          </a:prstGeom>
          <a:noFill/>
          <a:ln w="25400">
            <a:solidFill>
              <a:srgbClr val="CC7722"/>
            </a:solidFill>
            <a:prstDash val="solid"/>
          </a:ln>
        </p:spPr>
      </p:sp>
      <p:sp>
        <p:nvSpPr>
          <p:cNvPr id="14" name="Shape 11"/>
          <p:cNvSpPr/>
          <p:nvPr/>
        </p:nvSpPr>
        <p:spPr>
          <a:xfrm>
            <a:off x="5431536" y="1143000"/>
            <a:ext cx="1645920" cy="3017520"/>
          </a:xfrm>
          <a:prstGeom prst="roundRect">
            <a:avLst>
              <a:gd name="adj" fmla="val 5556"/>
            </a:avLst>
          </a:prstGeom>
          <a:solidFill>
            <a:srgbClr val="FFFFFF">
              <a:alpha val="10000"/>
            </a:srgbClr>
          </a:solidFill>
          <a:ln w="9525">
            <a:solidFill>
              <a:srgbClr val="EFF1F3">
                <a:alpha val="25000"/>
              </a:srgbClr>
            </a:solidFill>
            <a:prstDash val="solid"/>
          </a:ln>
        </p:spPr>
      </p:sp>
      <p:sp>
        <p:nvSpPr>
          <p:cNvPr id="15" name="Text 12"/>
          <p:cNvSpPr txBox="1"/>
          <p:nvPr/>
        </p:nvSpPr>
        <p:spPr>
          <a:xfrm>
            <a:off x="5486400" y="1179576"/>
            <a:ext cx="1536192" cy="2944368"/>
          </a:xfrm>
          <a:prstGeom prst="rect">
            <a:avLst/>
          </a:prstGeom>
          <a:noFill/>
          <a:ln/>
        </p:spPr>
        <p:txBody>
          <a:bodyPr wrap="square" lIns="508" tIns="762" rIns="762" bIns="508" rtlCol="0" anchor="t"/>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04  Penilaian kinerja</a:t>
            </a:r>
            <a:endParaRPr lang="en-US" sz="11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Muhasabah, amanah, transparansi. Penilaian multisumber; hasil dipakai untuk pembinaan lebih dulu.</a:t>
            </a:r>
            <a:endParaRPr lang="en-US" sz="11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(Wulandari dkk., 2024)</a:t>
            </a:r>
            <a:endParaRPr lang="en-US" sz="1100" dirty="0"/>
          </a:p>
        </p:txBody>
      </p:sp>
      <p:sp>
        <p:nvSpPr>
          <p:cNvPr id="16" name="Shape 13"/>
          <p:cNvSpPr/>
          <p:nvPr/>
        </p:nvSpPr>
        <p:spPr>
          <a:xfrm>
            <a:off x="7077456" y="1051560"/>
            <a:ext cx="73152" cy="0"/>
          </a:xfrm>
          <a:prstGeom prst="line">
            <a:avLst/>
          </a:prstGeom>
          <a:noFill/>
          <a:ln w="25400">
            <a:solidFill>
              <a:srgbClr val="CC7722"/>
            </a:solidFill>
            <a:prstDash val="solid"/>
          </a:ln>
        </p:spPr>
      </p:sp>
      <p:sp>
        <p:nvSpPr>
          <p:cNvPr id="17" name="Shape 14"/>
          <p:cNvSpPr/>
          <p:nvPr/>
        </p:nvSpPr>
        <p:spPr>
          <a:xfrm>
            <a:off x="7150608" y="1143000"/>
            <a:ext cx="1645920" cy="3017520"/>
          </a:xfrm>
          <a:prstGeom prst="roundRect">
            <a:avLst>
              <a:gd name="adj" fmla="val 5556"/>
            </a:avLst>
          </a:prstGeom>
          <a:solidFill>
            <a:srgbClr val="FFFFFF">
              <a:alpha val="10000"/>
            </a:srgbClr>
          </a:solidFill>
          <a:ln w="9525">
            <a:solidFill>
              <a:srgbClr val="EFF1F3">
                <a:alpha val="25000"/>
              </a:srgbClr>
            </a:solidFill>
            <a:prstDash val="solid"/>
          </a:ln>
        </p:spPr>
      </p:sp>
      <p:sp>
        <p:nvSpPr>
          <p:cNvPr id="18" name="Text 15"/>
          <p:cNvSpPr txBox="1"/>
          <p:nvPr/>
        </p:nvSpPr>
        <p:spPr>
          <a:xfrm>
            <a:off x="7205472" y="1179576"/>
            <a:ext cx="1536192" cy="2944368"/>
          </a:xfrm>
          <a:prstGeom prst="rect">
            <a:avLst/>
          </a:prstGeom>
          <a:noFill/>
          <a:ln/>
        </p:spPr>
        <p:txBody>
          <a:bodyPr wrap="square" lIns="508" tIns="762" rIns="762" bIns="508" rtlCol="0" anchor="t"/>
          <a:lstStyle/>
          <a:p>
            <a:pPr indent="0" marL="0">
              <a:spcAft>
                <a:spcPts val="200"/>
              </a:spcAft>
              <a:buNone/>
            </a:pPr>
            <a:r>
              <a:rPr lang="en-US" sz="1100" b="1" dirty="0">
                <a:solidFill>
                  <a:srgbClr val="EFF1F3"/>
                </a:solidFill>
                <a:latin typeface="Arial" pitchFamily="34" charset="0"/>
                <a:ea typeface="Arial" pitchFamily="34" charset="-122"/>
                <a:cs typeface="Arial" pitchFamily="34" charset="-120"/>
              </a:rPr>
              <a:t>05  Kompensasi</a:t>
            </a:r>
            <a:endParaRPr lang="en-US" sz="1100" dirty="0"/>
          </a:p>
          <a:p>
            <a:pPr indent="0" marL="0">
              <a:spcAft>
                <a:spcPts val="200"/>
              </a:spcAft>
              <a:buNone/>
            </a:pPr>
            <a:r>
              <a:rPr lang="en-US" sz="950" dirty="0">
                <a:solidFill>
                  <a:srgbClr val="EFF1F3"/>
                </a:solidFill>
                <a:latin typeface="Arial" pitchFamily="34" charset="0"/>
                <a:ea typeface="Arial" pitchFamily="34" charset="-122"/>
                <a:cs typeface="Arial" pitchFamily="34" charset="-120"/>
              </a:rPr>
              <a:t>Keadilan dan maqasid syariah. Imbal jasa sesuai beban dan kinerja; pengabdian adalah niat guru, keadilan kewajiban lembaga.</a:t>
            </a:r>
            <a:endParaRPr lang="en-US" sz="1100" dirty="0"/>
          </a:p>
          <a:p>
            <a:pPr indent="0" marL="0">
              <a:spcAft>
                <a:spcPts val="200"/>
              </a:spcAft>
              <a:buNone/>
            </a:pPr>
            <a:r>
              <a:rPr lang="en-US" sz="800" dirty="0">
                <a:solidFill>
                  <a:srgbClr val="F0B060"/>
                </a:solidFill>
                <a:latin typeface="Arial" pitchFamily="34" charset="0"/>
                <a:ea typeface="Arial" pitchFamily="34" charset="-122"/>
                <a:cs typeface="Arial" pitchFamily="34" charset="-120"/>
              </a:rPr>
              <a:t>(Abas, 2024; Yahya dkk., 2025)</a:t>
            </a:r>
            <a:endParaRPr lang="en-US" sz="1100" dirty="0"/>
          </a:p>
        </p:txBody>
      </p:sp>
      <p:sp>
        <p:nvSpPr>
          <p:cNvPr id="19" name="Text 16"/>
          <p:cNvSpPr txBox="1"/>
          <p:nvPr/>
        </p:nvSpPr>
        <p:spPr>
          <a:xfrm>
            <a:off x="457200" y="4297680"/>
            <a:ext cx="6949440" cy="457200"/>
          </a:xfrm>
          <a:prstGeom prst="rect">
            <a:avLst/>
          </a:prstGeom>
          <a:noFill/>
          <a:ln/>
        </p:spPr>
        <p:txBody>
          <a:bodyPr wrap="square" lIns="0" tIns="0" rIns="0" bIns="0" rtlCol="0" anchor="ctr"/>
          <a:lstStyle/>
          <a:p>
            <a:pPr indent="0" marL="0">
              <a:buNone/>
            </a:pPr>
            <a:r>
              <a:rPr lang="en-US" sz="900" dirty="0">
                <a:solidFill>
                  <a:srgbClr val="EFF1F3"/>
                </a:solidFill>
                <a:latin typeface="Arial" pitchFamily="34" charset="0"/>
                <a:ea typeface="Arial" pitchFamily="34" charset="-122"/>
                <a:cs typeface="Arial" pitchFamily="34" charset="-120"/>
              </a:rPr>
              <a:t>Alur: fungsi kenabian, kompetensi guru, lalu manajemen SDM. Hasil penilaian dipakai lebih dulu untuk merancang pembinaan sebelum keputusan karier.</a:t>
            </a:r>
            <a:endParaRPr lang="en-US" sz="900" dirty="0"/>
          </a:p>
        </p:txBody>
      </p:sp>
      <p:pic>
        <p:nvPicPr>
          <p:cNvPr id="20" name="Image 1" descr="img/man_run.png">    </p:cNvPr>
          <p:cNvPicPr>
            <a:picLocks noChangeAspect="1"/>
          </p:cNvPicPr>
          <p:nvPr/>
        </p:nvPicPr>
        <p:blipFill>
          <a:blip r:embed="rId3"/>
          <a:stretch>
            <a:fillRect/>
          </a:stretch>
        </p:blipFill>
        <p:spPr>
          <a:xfrm>
            <a:off x="8046720" y="4251960"/>
            <a:ext cx="576072" cy="822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000" b="1" dirty="0">
                <a:solidFill>
                  <a:srgbClr val="EFF1F3"/>
                </a:solidFill>
                <a:latin typeface="Arial" pitchFamily="34" charset="0"/>
                <a:ea typeface="Arial" pitchFamily="34" charset="-122"/>
                <a:cs typeface="Arial" pitchFamily="34" charset="-120"/>
              </a:rPr>
              <a:t>Temuan dan implikasinya bagi pengelolaan guru</a:t>
            </a:r>
            <a:endParaRPr lang="en-US" sz="2000" dirty="0"/>
          </a:p>
        </p:txBody>
      </p:sp>
      <p:sp>
        <p:nvSpPr>
          <p:cNvPr id="5" name="Shape 2"/>
          <p:cNvSpPr/>
          <p:nvPr/>
        </p:nvSpPr>
        <p:spPr>
          <a:xfrm>
            <a:off x="365760" y="1097280"/>
            <a:ext cx="4206240" cy="868680"/>
          </a:xfrm>
          <a:prstGeom prst="roundRect">
            <a:avLst>
              <a:gd name="adj" fmla="val 10526"/>
            </a:avLst>
          </a:prstGeom>
          <a:solidFill>
            <a:srgbClr val="FFFFFF">
              <a:alpha val="10000"/>
            </a:srgbClr>
          </a:solidFill>
          <a:ln w="9525">
            <a:solidFill>
              <a:srgbClr val="EFF1F3">
                <a:alpha val="25000"/>
              </a:srgbClr>
            </a:solidFill>
            <a:prstDash val="solid"/>
          </a:ln>
        </p:spPr>
      </p:sp>
      <p:sp>
        <p:nvSpPr>
          <p:cNvPr id="6" name="Text 3"/>
          <p:cNvSpPr txBox="1"/>
          <p:nvPr/>
        </p:nvSpPr>
        <p:spPr>
          <a:xfrm>
            <a:off x="420624" y="1133856"/>
            <a:ext cx="4096512" cy="79552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Temuan 01</a:t>
            </a:r>
            <a:endParaRPr lang="en-US" sz="100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Empat ayat memuat pola pendidikan kenabian yang konsisten, dengan variasi urutan fungsi dan bingkai penyampaian.</a:t>
            </a:r>
            <a:endParaRPr lang="en-US" sz="1000" dirty="0"/>
          </a:p>
        </p:txBody>
      </p:sp>
      <p:sp>
        <p:nvSpPr>
          <p:cNvPr id="7" name="Shape 4"/>
          <p:cNvSpPr/>
          <p:nvPr/>
        </p:nvSpPr>
        <p:spPr>
          <a:xfrm>
            <a:off x="365760" y="2029968"/>
            <a:ext cx="4206240" cy="868680"/>
          </a:xfrm>
          <a:prstGeom prst="roundRect">
            <a:avLst>
              <a:gd name="adj" fmla="val 10526"/>
            </a:avLst>
          </a:prstGeom>
          <a:solidFill>
            <a:srgbClr val="FFFFFF">
              <a:alpha val="10000"/>
            </a:srgbClr>
          </a:solidFill>
          <a:ln w="9525">
            <a:solidFill>
              <a:srgbClr val="EFF1F3">
                <a:alpha val="25000"/>
              </a:srgbClr>
            </a:solidFill>
            <a:prstDash val="solid"/>
          </a:ln>
        </p:spPr>
      </p:sp>
      <p:sp>
        <p:nvSpPr>
          <p:cNvPr id="8" name="Text 5"/>
          <p:cNvSpPr txBox="1"/>
          <p:nvPr/>
        </p:nvSpPr>
        <p:spPr>
          <a:xfrm>
            <a:off x="420624" y="2066544"/>
            <a:ext cx="4096512" cy="79552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Temuan 02</a:t>
            </a:r>
            <a:endParaRPr lang="en-US" sz="100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Pola itu terpetakan pada empat kompetensi guru: tilawah pada pedagogik, tazkiyah pada kepribadian, ta'lim al-kitab pada profesional, ta'lim al-hikmah pada sosial.</a:t>
            </a:r>
            <a:endParaRPr lang="en-US" sz="1000" dirty="0"/>
          </a:p>
        </p:txBody>
      </p:sp>
      <p:sp>
        <p:nvSpPr>
          <p:cNvPr id="9" name="Shape 6"/>
          <p:cNvSpPr/>
          <p:nvPr/>
        </p:nvSpPr>
        <p:spPr>
          <a:xfrm>
            <a:off x="365760" y="2962656"/>
            <a:ext cx="4206240" cy="868680"/>
          </a:xfrm>
          <a:prstGeom prst="roundRect">
            <a:avLst>
              <a:gd name="adj" fmla="val 10526"/>
            </a:avLst>
          </a:prstGeom>
          <a:solidFill>
            <a:srgbClr val="FFFFFF">
              <a:alpha val="10000"/>
            </a:srgbClr>
          </a:solidFill>
          <a:ln w="9525">
            <a:solidFill>
              <a:srgbClr val="EFF1F3">
                <a:alpha val="25000"/>
              </a:srgbClr>
            </a:solidFill>
            <a:prstDash val="solid"/>
          </a:ln>
        </p:spPr>
      </p:sp>
      <p:sp>
        <p:nvSpPr>
          <p:cNvPr id="10" name="Text 7"/>
          <p:cNvSpPr txBox="1"/>
          <p:nvPr/>
        </p:nvSpPr>
        <p:spPr>
          <a:xfrm>
            <a:off x="420624" y="2999232"/>
            <a:ext cx="4096512" cy="795528"/>
          </a:xfrm>
          <a:prstGeom prst="rect">
            <a:avLst/>
          </a:prstGeom>
          <a:noFill/>
          <a:ln/>
        </p:spPr>
        <p:txBody>
          <a:bodyPr wrap="square" lIns="508" tIns="762" rIns="762" bIns="508" rtlCol="0" anchor="t"/>
          <a:lstStyle/>
          <a:p>
            <a:pPr indent="0" marL="0">
              <a:spcAft>
                <a:spcPts val="200"/>
              </a:spcAft>
              <a:buNone/>
            </a:pPr>
            <a:r>
              <a:rPr lang="en-US" sz="1000" b="1" dirty="0">
                <a:solidFill>
                  <a:srgbClr val="EFF1F3"/>
                </a:solidFill>
                <a:latin typeface="Arial" pitchFamily="34" charset="0"/>
                <a:ea typeface="Arial" pitchFamily="34" charset="-122"/>
                <a:cs typeface="Arial" pitchFamily="34" charset="-120"/>
              </a:rPr>
              <a:t>Temuan 03</a:t>
            </a:r>
            <a:endParaRPr lang="en-US" sz="1000" dirty="0"/>
          </a:p>
          <a:p>
            <a:pPr indent="0" marL="0">
              <a:spcAft>
                <a:spcPts val="200"/>
              </a:spcAft>
              <a:buNone/>
            </a:pPr>
            <a:r>
              <a:rPr lang="en-US" sz="850" dirty="0">
                <a:solidFill>
                  <a:srgbClr val="EFF1F3"/>
                </a:solidFill>
                <a:latin typeface="Arial" pitchFamily="34" charset="0"/>
                <a:ea typeface="Arial" pitchFamily="34" charset="-122"/>
                <a:cs typeface="Arial" pitchFamily="34" charset="-120"/>
              </a:rPr>
              <a:t>Pemetaan dapat dioperasionalkan melalui lima fungsi manajemen SDM dengan indikator yang dapat diamati.</a:t>
            </a:r>
            <a:endParaRPr lang="en-US" sz="1000" dirty="0"/>
          </a:p>
        </p:txBody>
      </p:sp>
      <p:sp>
        <p:nvSpPr>
          <p:cNvPr id="11" name="Text 8"/>
          <p:cNvSpPr txBox="1"/>
          <p:nvPr/>
        </p:nvSpPr>
        <p:spPr>
          <a:xfrm>
            <a:off x="365760" y="3931920"/>
            <a:ext cx="4297680" cy="457200"/>
          </a:xfrm>
          <a:prstGeom prst="rect">
            <a:avLst/>
          </a:prstGeom>
          <a:noFill/>
          <a:ln/>
        </p:spPr>
        <p:txBody>
          <a:bodyPr wrap="square" lIns="0" tIns="0" rIns="0" bIns="0" rtlCol="0" anchor="ctr"/>
          <a:lstStyle/>
          <a:p>
            <a:pPr indent="0" marL="0">
              <a:buNone/>
            </a:pPr>
            <a:r>
              <a:rPr lang="en-US" sz="800" dirty="0">
                <a:solidFill>
                  <a:srgbClr val="F0B060"/>
                </a:solidFill>
                <a:latin typeface="Arial" pitchFamily="34" charset="0"/>
                <a:ea typeface="Arial" pitchFamily="34" charset="-122"/>
                <a:cs typeface="Arial" pitchFamily="34" charset="-120"/>
              </a:rPr>
              <a:t>Kajian konseptual, belum diuji empiris  |  Pemetaan adalah tafsiran penulis  |  Empat ayat dan enam tafsir edisi terjemahan</a:t>
            </a:r>
            <a:endParaRPr lang="en-US" sz="800" dirty="0"/>
          </a:p>
        </p:txBody>
      </p:sp>
      <p:sp>
        <p:nvSpPr>
          <p:cNvPr id="12" name="Shape 9"/>
          <p:cNvSpPr/>
          <p:nvPr/>
        </p:nvSpPr>
        <p:spPr>
          <a:xfrm>
            <a:off x="4754880" y="1097280"/>
            <a:ext cx="4023360" cy="566928"/>
          </a:xfrm>
          <a:prstGeom prst="roundRect">
            <a:avLst>
              <a:gd name="adj" fmla="val 16129"/>
            </a:avLst>
          </a:prstGeom>
          <a:solidFill>
            <a:srgbClr val="FFFFFF">
              <a:alpha val="10000"/>
            </a:srgbClr>
          </a:solidFill>
          <a:ln w="9525">
            <a:solidFill>
              <a:srgbClr val="EFF1F3">
                <a:alpha val="25000"/>
              </a:srgbClr>
            </a:solidFill>
            <a:prstDash val="solid"/>
          </a:ln>
        </p:spPr>
      </p:sp>
      <p:sp>
        <p:nvSpPr>
          <p:cNvPr id="13" name="Text 10"/>
          <p:cNvSpPr txBox="1"/>
          <p:nvPr/>
        </p:nvSpPr>
        <p:spPr>
          <a:xfrm>
            <a:off x="4809744" y="1133856"/>
            <a:ext cx="3913632" cy="493776"/>
          </a:xfrm>
          <a:prstGeom prst="rect">
            <a:avLst/>
          </a:prstGeom>
          <a:noFill/>
          <a:ln/>
        </p:spPr>
        <p:txBody>
          <a:bodyPr wrap="square" lIns="508" tIns="762" rIns="762" bIns="508" rtlCol="0" anchor="ctr"/>
          <a:lstStyle/>
          <a:p>
            <a:pPr indent="0" marL="0">
              <a:spcAft>
                <a:spcPts val="200"/>
              </a:spcAft>
              <a:buNone/>
            </a:pPr>
            <a:r>
              <a:rPr lang="en-US" sz="900" dirty="0">
                <a:solidFill>
                  <a:srgbClr val="EFF1F3"/>
                </a:solidFill>
                <a:latin typeface="Arial" pitchFamily="34" charset="0"/>
                <a:ea typeface="Arial" pitchFamily="34" charset="-122"/>
                <a:cs typeface="Arial" pitchFamily="34" charset="-120"/>
              </a:rPr>
              <a:t>Perencanaan: profil jabatan memuat empat kompetensi.</a:t>
            </a:r>
            <a:endParaRPr lang="en-US" sz="900" dirty="0"/>
          </a:p>
        </p:txBody>
      </p:sp>
      <p:sp>
        <p:nvSpPr>
          <p:cNvPr id="14" name="Shape 11"/>
          <p:cNvSpPr/>
          <p:nvPr/>
        </p:nvSpPr>
        <p:spPr>
          <a:xfrm>
            <a:off x="4754880" y="1719072"/>
            <a:ext cx="4023360" cy="566928"/>
          </a:xfrm>
          <a:prstGeom prst="roundRect">
            <a:avLst>
              <a:gd name="adj" fmla="val 16129"/>
            </a:avLst>
          </a:prstGeom>
          <a:solidFill>
            <a:srgbClr val="FFFFFF">
              <a:alpha val="10000"/>
            </a:srgbClr>
          </a:solidFill>
          <a:ln w="9525">
            <a:solidFill>
              <a:srgbClr val="EFF1F3">
                <a:alpha val="25000"/>
              </a:srgbClr>
            </a:solidFill>
            <a:prstDash val="solid"/>
          </a:ln>
        </p:spPr>
      </p:sp>
      <p:sp>
        <p:nvSpPr>
          <p:cNvPr id="15" name="Text 12"/>
          <p:cNvSpPr txBox="1"/>
          <p:nvPr/>
        </p:nvSpPr>
        <p:spPr>
          <a:xfrm>
            <a:off x="4809744" y="1755648"/>
            <a:ext cx="3913632" cy="493776"/>
          </a:xfrm>
          <a:prstGeom prst="rect">
            <a:avLst/>
          </a:prstGeom>
          <a:noFill/>
          <a:ln/>
        </p:spPr>
        <p:txBody>
          <a:bodyPr wrap="square" lIns="508" tIns="762" rIns="762" bIns="508" rtlCol="0" anchor="ctr"/>
          <a:lstStyle/>
          <a:p>
            <a:pPr indent="0" marL="0">
              <a:spcAft>
                <a:spcPts val="200"/>
              </a:spcAft>
              <a:buNone/>
            </a:pPr>
            <a:r>
              <a:rPr lang="en-US" sz="900" dirty="0">
                <a:solidFill>
                  <a:srgbClr val="EFF1F3"/>
                </a:solidFill>
                <a:latin typeface="Arial" pitchFamily="34" charset="0"/>
                <a:ea typeface="Arial" pitchFamily="34" charset="-122"/>
                <a:cs typeface="Arial" pitchFamily="34" charset="-120"/>
              </a:rPr>
              <a:t>Seleksi: akhlak dinilai dengan instrumen jelas dan bobot yang diumumkan.</a:t>
            </a:r>
            <a:endParaRPr lang="en-US" sz="900" dirty="0"/>
          </a:p>
        </p:txBody>
      </p:sp>
      <p:sp>
        <p:nvSpPr>
          <p:cNvPr id="16" name="Shape 13"/>
          <p:cNvSpPr/>
          <p:nvPr/>
        </p:nvSpPr>
        <p:spPr>
          <a:xfrm>
            <a:off x="4754880" y="2340864"/>
            <a:ext cx="4023360" cy="566928"/>
          </a:xfrm>
          <a:prstGeom prst="roundRect">
            <a:avLst>
              <a:gd name="adj" fmla="val 16129"/>
            </a:avLst>
          </a:prstGeom>
          <a:solidFill>
            <a:srgbClr val="FFFFFF">
              <a:alpha val="10000"/>
            </a:srgbClr>
          </a:solidFill>
          <a:ln w="9525">
            <a:solidFill>
              <a:srgbClr val="EFF1F3">
                <a:alpha val="25000"/>
              </a:srgbClr>
            </a:solidFill>
            <a:prstDash val="solid"/>
          </a:ln>
        </p:spPr>
      </p:sp>
      <p:sp>
        <p:nvSpPr>
          <p:cNvPr id="17" name="Text 14"/>
          <p:cNvSpPr txBox="1"/>
          <p:nvPr/>
        </p:nvSpPr>
        <p:spPr>
          <a:xfrm>
            <a:off x="4809744" y="2377440"/>
            <a:ext cx="3913632" cy="493776"/>
          </a:xfrm>
          <a:prstGeom prst="rect">
            <a:avLst/>
          </a:prstGeom>
          <a:noFill/>
          <a:ln/>
        </p:spPr>
        <p:txBody>
          <a:bodyPr wrap="square" lIns="508" tIns="762" rIns="762" bIns="508" rtlCol="0" anchor="ctr"/>
          <a:lstStyle/>
          <a:p>
            <a:pPr indent="0" marL="0">
              <a:spcAft>
                <a:spcPts val="200"/>
              </a:spcAft>
              <a:buNone/>
            </a:pPr>
            <a:r>
              <a:rPr lang="en-US" sz="900" dirty="0">
                <a:solidFill>
                  <a:srgbClr val="EFF1F3"/>
                </a:solidFill>
                <a:latin typeface="Arial" pitchFamily="34" charset="0"/>
                <a:ea typeface="Arial" pitchFamily="34" charset="-122"/>
                <a:cs typeface="Arial" pitchFamily="34" charset="-120"/>
              </a:rPr>
              <a:t>Pembinaan: penyucian jiwa bukan pelengkap setelah pelatihan teknis.</a:t>
            </a:r>
            <a:endParaRPr lang="en-US" sz="900" dirty="0"/>
          </a:p>
        </p:txBody>
      </p:sp>
      <p:sp>
        <p:nvSpPr>
          <p:cNvPr id="18" name="Shape 15"/>
          <p:cNvSpPr/>
          <p:nvPr/>
        </p:nvSpPr>
        <p:spPr>
          <a:xfrm>
            <a:off x="4754880" y="2962656"/>
            <a:ext cx="4023360" cy="566928"/>
          </a:xfrm>
          <a:prstGeom prst="roundRect">
            <a:avLst>
              <a:gd name="adj" fmla="val 16129"/>
            </a:avLst>
          </a:prstGeom>
          <a:solidFill>
            <a:srgbClr val="FFFFFF">
              <a:alpha val="10000"/>
            </a:srgbClr>
          </a:solidFill>
          <a:ln w="9525">
            <a:solidFill>
              <a:srgbClr val="EFF1F3">
                <a:alpha val="25000"/>
              </a:srgbClr>
            </a:solidFill>
            <a:prstDash val="solid"/>
          </a:ln>
        </p:spPr>
      </p:sp>
      <p:sp>
        <p:nvSpPr>
          <p:cNvPr id="19" name="Text 16"/>
          <p:cNvSpPr txBox="1"/>
          <p:nvPr/>
        </p:nvSpPr>
        <p:spPr>
          <a:xfrm>
            <a:off x="4809744" y="2999232"/>
            <a:ext cx="3913632" cy="493776"/>
          </a:xfrm>
          <a:prstGeom prst="rect">
            <a:avLst/>
          </a:prstGeom>
          <a:noFill/>
          <a:ln/>
        </p:spPr>
        <p:txBody>
          <a:bodyPr wrap="square" lIns="508" tIns="762" rIns="762" bIns="508" rtlCol="0" anchor="ctr"/>
          <a:lstStyle/>
          <a:p>
            <a:pPr indent="0" marL="0">
              <a:spcAft>
                <a:spcPts val="200"/>
              </a:spcAft>
              <a:buNone/>
            </a:pPr>
            <a:r>
              <a:rPr lang="en-US" sz="900" dirty="0">
                <a:solidFill>
                  <a:srgbClr val="EFF1F3"/>
                </a:solidFill>
                <a:latin typeface="Arial" pitchFamily="34" charset="0"/>
                <a:ea typeface="Arial" pitchFamily="34" charset="-122"/>
                <a:cs typeface="Arial" pitchFamily="34" charset="-120"/>
              </a:rPr>
              <a:t>Evaluasi: bermuara pada dampak bagi murid, bukan kelengkapan administrasi.</a:t>
            </a:r>
            <a:endParaRPr lang="en-US" sz="900" dirty="0"/>
          </a:p>
        </p:txBody>
      </p:sp>
      <p:sp>
        <p:nvSpPr>
          <p:cNvPr id="20" name="Shape 17"/>
          <p:cNvSpPr/>
          <p:nvPr/>
        </p:nvSpPr>
        <p:spPr>
          <a:xfrm>
            <a:off x="4754880" y="3584448"/>
            <a:ext cx="4023360" cy="566928"/>
          </a:xfrm>
          <a:prstGeom prst="roundRect">
            <a:avLst>
              <a:gd name="adj" fmla="val 16129"/>
            </a:avLst>
          </a:prstGeom>
          <a:solidFill>
            <a:srgbClr val="FFFFFF">
              <a:alpha val="10000"/>
            </a:srgbClr>
          </a:solidFill>
          <a:ln w="9525">
            <a:solidFill>
              <a:srgbClr val="EFF1F3">
                <a:alpha val="25000"/>
              </a:srgbClr>
            </a:solidFill>
            <a:prstDash val="solid"/>
          </a:ln>
        </p:spPr>
      </p:sp>
      <p:sp>
        <p:nvSpPr>
          <p:cNvPr id="21" name="Text 18"/>
          <p:cNvSpPr txBox="1"/>
          <p:nvPr/>
        </p:nvSpPr>
        <p:spPr>
          <a:xfrm>
            <a:off x="4809744" y="3621024"/>
            <a:ext cx="3913632" cy="493776"/>
          </a:xfrm>
          <a:prstGeom prst="rect">
            <a:avLst/>
          </a:prstGeom>
          <a:noFill/>
          <a:ln/>
        </p:spPr>
        <p:txBody>
          <a:bodyPr wrap="square" lIns="508" tIns="762" rIns="762" bIns="508" rtlCol="0" anchor="ctr"/>
          <a:lstStyle/>
          <a:p>
            <a:pPr indent="0" marL="0">
              <a:spcAft>
                <a:spcPts val="200"/>
              </a:spcAft>
              <a:buNone/>
            </a:pPr>
            <a:r>
              <a:rPr lang="en-US" sz="900" dirty="0">
                <a:solidFill>
                  <a:srgbClr val="EFF1F3"/>
                </a:solidFill>
                <a:latin typeface="Arial" pitchFamily="34" charset="0"/>
                <a:ea typeface="Arial" pitchFamily="34" charset="-122"/>
                <a:cs typeface="Arial" pitchFamily="34" charset="-120"/>
              </a:rPr>
              <a:t>Kompensasi: pengabdian adalah niat guru, keadilan adalah kewajiban lembaga.</a:t>
            </a:r>
            <a:endParaRPr lang="en-US" sz="900" dirty="0"/>
          </a:p>
        </p:txBody>
      </p:sp>
      <p:sp>
        <p:nvSpPr>
          <p:cNvPr id="22" name="Text 19"/>
          <p:cNvSpPr txBox="1"/>
          <p:nvPr/>
        </p:nvSpPr>
        <p:spPr>
          <a:xfrm>
            <a:off x="4754880" y="4224528"/>
            <a:ext cx="2743200" cy="228600"/>
          </a:xfrm>
          <a:prstGeom prst="rect">
            <a:avLst/>
          </a:prstGeom>
          <a:noFill/>
          <a:ln/>
        </p:spPr>
        <p:txBody>
          <a:bodyPr wrap="square" lIns="0" tIns="0" rIns="0" bIns="0" rtlCol="0" anchor="ctr"/>
          <a:lstStyle/>
          <a:p>
            <a:pPr indent="0" marL="0">
              <a:buNone/>
            </a:pPr>
            <a:r>
              <a:rPr lang="en-US" sz="800" dirty="0">
                <a:solidFill>
                  <a:srgbClr val="F0B060"/>
                </a:solidFill>
                <a:latin typeface="Arial" pitchFamily="34" charset="0"/>
                <a:ea typeface="Arial" pitchFamily="34" charset="-122"/>
                <a:cs typeface="Arial" pitchFamily="34" charset="-120"/>
              </a:rPr>
              <a:t>Implikasi menurut penulis</a:t>
            </a:r>
            <a:endParaRPr lang="en-US" sz="800" dirty="0"/>
          </a:p>
        </p:txBody>
      </p:sp>
      <p:pic>
        <p:nvPicPr>
          <p:cNvPr id="23" name="Image 1" descr="img/man_point.png">    </p:cNvPr>
          <p:cNvPicPr>
            <a:picLocks noChangeAspect="1"/>
          </p:cNvPicPr>
          <p:nvPr/>
        </p:nvPicPr>
        <p:blipFill>
          <a:blip r:embed="rId3"/>
          <a:stretch>
            <a:fillRect/>
          </a:stretch>
        </p:blipFill>
        <p:spPr>
          <a:xfrm>
            <a:off x="8138160" y="4297680"/>
            <a:ext cx="544068" cy="777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960120" y="228600"/>
            <a:ext cx="7863840" cy="685800"/>
          </a:xfrm>
          <a:prstGeom prst="rect">
            <a:avLst/>
          </a:prstGeom>
          <a:noFill/>
          <a:ln/>
        </p:spPr>
        <p:txBody>
          <a:bodyPr wrap="square" lIns="0" tIns="0" rIns="0" bIns="0" rtlCol="0" anchor="ctr"/>
          <a:lstStyle/>
          <a:p>
            <a:pPr indent="0" marL="0">
              <a:buNone/>
            </a:pPr>
            <a:r>
              <a:rPr lang="en-US" sz="2100" b="1" dirty="0">
                <a:solidFill>
                  <a:srgbClr val="EFF1F3"/>
                </a:solidFill>
                <a:latin typeface="Arial" pitchFamily="34" charset="0"/>
                <a:ea typeface="Arial" pitchFamily="34" charset="-122"/>
                <a:cs typeface="Arial" pitchFamily="34" charset="-120"/>
              </a:rPr>
              <a:t>Simpulan: menjawab tiga pertanyaan kajian</a:t>
            </a:r>
            <a:endParaRPr lang="en-US" sz="2100" dirty="0"/>
          </a:p>
        </p:txBody>
      </p:sp>
      <p:sp>
        <p:nvSpPr>
          <p:cNvPr id="5" name="Shape 2"/>
          <p:cNvSpPr/>
          <p:nvPr/>
        </p:nvSpPr>
        <p:spPr>
          <a:xfrm>
            <a:off x="457200" y="1097280"/>
            <a:ext cx="8229600" cy="777240"/>
          </a:xfrm>
          <a:prstGeom prst="roundRect">
            <a:avLst>
              <a:gd name="adj" fmla="val 11765"/>
            </a:avLst>
          </a:prstGeom>
          <a:solidFill>
            <a:srgbClr val="FFFFFF">
              <a:alpha val="10000"/>
            </a:srgbClr>
          </a:solidFill>
          <a:ln w="9525">
            <a:solidFill>
              <a:srgbClr val="EFF1F3">
                <a:alpha val="25000"/>
              </a:srgbClr>
            </a:solidFill>
            <a:prstDash val="solid"/>
          </a:ln>
        </p:spPr>
      </p:sp>
      <p:sp>
        <p:nvSpPr>
          <p:cNvPr id="6" name="Text 3"/>
          <p:cNvSpPr txBox="1"/>
          <p:nvPr/>
        </p:nvSpPr>
        <p:spPr>
          <a:xfrm>
            <a:off x="512064" y="1133856"/>
            <a:ext cx="8119872" cy="704088"/>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01  Jawaban pertanyaan pertama</a:t>
            </a:r>
            <a:endParaRPr lang="en-US" sz="95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Tugas kenabian sebagai pendidik terdiri atas tilawah, tazkiyah, dan ta'lim al-kitab wa al-hikmah menurut para mufasir yang dikaji.</a:t>
            </a:r>
            <a:endParaRPr lang="en-US" sz="950" dirty="0"/>
          </a:p>
        </p:txBody>
      </p:sp>
      <p:sp>
        <p:nvSpPr>
          <p:cNvPr id="7" name="Shape 4"/>
          <p:cNvSpPr/>
          <p:nvPr/>
        </p:nvSpPr>
        <p:spPr>
          <a:xfrm>
            <a:off x="457200" y="1938528"/>
            <a:ext cx="8229600" cy="777240"/>
          </a:xfrm>
          <a:prstGeom prst="roundRect">
            <a:avLst>
              <a:gd name="adj" fmla="val 11765"/>
            </a:avLst>
          </a:prstGeom>
          <a:solidFill>
            <a:srgbClr val="FFFFFF">
              <a:alpha val="10000"/>
            </a:srgbClr>
          </a:solidFill>
          <a:ln w="9525">
            <a:solidFill>
              <a:srgbClr val="EFF1F3">
                <a:alpha val="25000"/>
              </a:srgbClr>
            </a:solidFill>
            <a:prstDash val="solid"/>
          </a:ln>
        </p:spPr>
      </p:sp>
      <p:sp>
        <p:nvSpPr>
          <p:cNvPr id="8" name="Text 5"/>
          <p:cNvSpPr txBox="1"/>
          <p:nvPr/>
        </p:nvSpPr>
        <p:spPr>
          <a:xfrm>
            <a:off x="512064" y="1975104"/>
            <a:ext cx="8119872" cy="704088"/>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02  Jawaban pertanyaan kedua</a:t>
            </a:r>
            <a:endParaRPr lang="en-US" sz="95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Ketiganya terpetakan pada kompetensi pedagogik, kepribadian, profesional, dan sosial, dengan tazkiyah sebagai poros yang mengikat.</a:t>
            </a:r>
            <a:endParaRPr lang="en-US" sz="950" dirty="0"/>
          </a:p>
        </p:txBody>
      </p:sp>
      <p:sp>
        <p:nvSpPr>
          <p:cNvPr id="9" name="Shape 6"/>
          <p:cNvSpPr/>
          <p:nvPr/>
        </p:nvSpPr>
        <p:spPr>
          <a:xfrm>
            <a:off x="457200" y="2779776"/>
            <a:ext cx="8229600" cy="777240"/>
          </a:xfrm>
          <a:prstGeom prst="roundRect">
            <a:avLst>
              <a:gd name="adj" fmla="val 11765"/>
            </a:avLst>
          </a:prstGeom>
          <a:solidFill>
            <a:srgbClr val="FFFFFF">
              <a:alpha val="10000"/>
            </a:srgbClr>
          </a:solidFill>
          <a:ln w="9525">
            <a:solidFill>
              <a:srgbClr val="EFF1F3">
                <a:alpha val="25000"/>
              </a:srgbClr>
            </a:solidFill>
            <a:prstDash val="solid"/>
          </a:ln>
        </p:spPr>
      </p:sp>
      <p:sp>
        <p:nvSpPr>
          <p:cNvPr id="10" name="Text 7"/>
          <p:cNvSpPr txBox="1"/>
          <p:nvPr/>
        </p:nvSpPr>
        <p:spPr>
          <a:xfrm>
            <a:off x="512064" y="2816352"/>
            <a:ext cx="8119872" cy="704088"/>
          </a:xfrm>
          <a:prstGeom prst="rect">
            <a:avLst/>
          </a:prstGeom>
          <a:noFill/>
          <a:ln/>
        </p:spPr>
        <p:txBody>
          <a:bodyPr wrap="square" lIns="508" tIns="762" rIns="762" bIns="508" rtlCol="0" anchor="t"/>
          <a:lstStyle/>
          <a:p>
            <a:pPr indent="0" marL="0">
              <a:spcAft>
                <a:spcPts val="200"/>
              </a:spcAft>
              <a:buNone/>
            </a:pPr>
            <a:r>
              <a:rPr lang="en-US" sz="950" b="1" dirty="0">
                <a:solidFill>
                  <a:srgbClr val="EFF1F3"/>
                </a:solidFill>
                <a:latin typeface="Arial" pitchFamily="34" charset="0"/>
                <a:ea typeface="Arial" pitchFamily="34" charset="-122"/>
                <a:cs typeface="Arial" pitchFamily="34" charset="-120"/>
              </a:rPr>
              <a:t>03  Jawaban pertanyaan ketiga</a:t>
            </a:r>
            <a:endParaRPr lang="en-US" sz="950" dirty="0"/>
          </a:p>
          <a:p>
            <a:pPr indent="0" marL="0">
              <a:spcAft>
                <a:spcPts val="200"/>
              </a:spcAft>
              <a:buNone/>
            </a:pPr>
            <a:r>
              <a:rPr lang="en-US" sz="1000" dirty="0">
                <a:solidFill>
                  <a:srgbClr val="EFF1F3"/>
                </a:solidFill>
                <a:latin typeface="Arial" pitchFamily="34" charset="0"/>
                <a:ea typeface="Arial" pitchFamily="34" charset="-122"/>
                <a:cs typeface="Arial" pitchFamily="34" charset="-120"/>
              </a:rPr>
              <a:t>Pemetaan dioperasionalkan pada perencanaan, rekrutmen dan seleksi, pembinaan dan pengembangan, penilaian kinerja, serta kompensasi.</a:t>
            </a:r>
            <a:endParaRPr lang="en-US" sz="950" dirty="0"/>
          </a:p>
        </p:txBody>
      </p:sp>
      <p:sp>
        <p:nvSpPr>
          <p:cNvPr id="11" name="Shape 8"/>
          <p:cNvSpPr/>
          <p:nvPr/>
        </p:nvSpPr>
        <p:spPr>
          <a:xfrm>
            <a:off x="457200" y="3657600"/>
            <a:ext cx="7132320" cy="822960"/>
          </a:xfrm>
          <a:prstGeom prst="roundRect">
            <a:avLst>
              <a:gd name="adj" fmla="val 11111"/>
            </a:avLst>
          </a:prstGeom>
          <a:solidFill>
            <a:srgbClr val="CC7722">
              <a:alpha val="55000"/>
            </a:srgbClr>
          </a:solidFill>
          <a:ln w="9525">
            <a:solidFill>
              <a:srgbClr val="F0B060"/>
            </a:solidFill>
            <a:prstDash val="solid"/>
          </a:ln>
        </p:spPr>
      </p:sp>
      <p:sp>
        <p:nvSpPr>
          <p:cNvPr id="12" name="Text 9"/>
          <p:cNvSpPr txBox="1"/>
          <p:nvPr/>
        </p:nvSpPr>
        <p:spPr>
          <a:xfrm>
            <a:off x="512064" y="3694176"/>
            <a:ext cx="7022592" cy="749808"/>
          </a:xfrm>
          <a:prstGeom prst="rect">
            <a:avLst/>
          </a:prstGeom>
          <a:noFill/>
          <a:ln/>
        </p:spPr>
        <p:txBody>
          <a:bodyPr wrap="square" lIns="508" tIns="762" rIns="762" bIns="508" rtlCol="0" anchor="ctr"/>
          <a:lstStyle/>
          <a:p>
            <a:pPr indent="0" marL="0">
              <a:spcAft>
                <a:spcPts val="200"/>
              </a:spcAft>
              <a:buNone/>
            </a:pPr>
            <a:r>
              <a:rPr lang="en-US" sz="1050" dirty="0">
                <a:solidFill>
                  <a:srgbClr val="EFF1F3"/>
                </a:solidFill>
                <a:latin typeface="Arial" pitchFamily="34" charset="0"/>
                <a:ea typeface="Arial" pitchFamily="34" charset="-122"/>
                <a:cs typeface="Arial" pitchFamily="34" charset="-120"/>
              </a:rPr>
              <a:t>Persoalan mutu guru tidak cukup dijawab dengan pelatihan teknis; diperlukan sistem manajemen yang menjadikan integritas spiritual sebagai standar yang eksplisit dan dapat diamati.</a:t>
            </a:r>
            <a:endParaRPr lang="en-US" sz="1050" dirty="0"/>
          </a:p>
        </p:txBody>
      </p:sp>
      <p:pic>
        <p:nvPicPr>
          <p:cNvPr id="13" name="Image 1" descr="img/man_walk.png">    </p:cNvPr>
          <p:cNvPicPr>
            <a:picLocks noChangeAspect="1"/>
          </p:cNvPicPr>
          <p:nvPr/>
        </p:nvPicPr>
        <p:blipFill>
          <a:blip r:embed="rId3"/>
          <a:stretch>
            <a:fillRect/>
          </a:stretch>
        </p:blipFill>
        <p:spPr>
          <a:xfrm>
            <a:off x="7863840" y="4160520"/>
            <a:ext cx="608076" cy="868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28600" y="182880"/>
            <a:ext cx="566928" cy="786384"/>
          </a:xfrm>
          <a:prstGeom prst="roundRect">
            <a:avLst>
              <a:gd name="adj" fmla="val 12903"/>
            </a:avLst>
          </a:prstGeom>
          <a:solidFill>
            <a:srgbClr val="EFF1F3"/>
          </a:solidFill>
          <a:ln w="12700">
            <a:solidFill>
              <a:srgbClr val="EFF1F3"/>
            </a:solidFill>
            <a:prstDash val="solid"/>
          </a:ln>
        </p:spPr>
      </p:sp>
      <p:pic>
        <p:nvPicPr>
          <p:cNvPr id="3" name="Image 0" descr="logo_s.png">    </p:cNvPr>
          <p:cNvPicPr>
            <a:picLocks noChangeAspect="1"/>
          </p:cNvPicPr>
          <p:nvPr/>
        </p:nvPicPr>
        <p:blipFill>
          <a:blip r:embed="rId2"/>
          <a:stretch>
            <a:fillRect/>
          </a:stretch>
        </p:blipFill>
        <p:spPr>
          <a:xfrm>
            <a:off x="283464" y="228600"/>
            <a:ext cx="457200" cy="687721"/>
          </a:xfrm>
          <a:prstGeom prst="rect">
            <a:avLst/>
          </a:prstGeom>
        </p:spPr>
      </p:pic>
      <p:sp>
        <p:nvSpPr>
          <p:cNvPr id="4" name="Text 1"/>
          <p:cNvSpPr txBox="1"/>
          <p:nvPr/>
        </p:nvSpPr>
        <p:spPr>
          <a:xfrm>
            <a:off x="1097280" y="1280160"/>
            <a:ext cx="6949440" cy="822960"/>
          </a:xfrm>
          <a:prstGeom prst="rect">
            <a:avLst/>
          </a:prstGeom>
          <a:noFill/>
          <a:ln/>
        </p:spPr>
        <p:txBody>
          <a:bodyPr wrap="square" lIns="0" tIns="0" rIns="0" bIns="0" rtlCol="0" anchor="ctr"/>
          <a:lstStyle/>
          <a:p>
            <a:pPr algn="ctr" indent="0" marL="0">
              <a:buNone/>
            </a:pPr>
            <a:r>
              <a:rPr lang="en-US" sz="4000" b="1" dirty="0">
                <a:solidFill>
                  <a:srgbClr val="1D3461"/>
                </a:solidFill>
                <a:latin typeface="Arial" pitchFamily="34" charset="0"/>
                <a:ea typeface="Arial" pitchFamily="34" charset="-122"/>
                <a:cs typeface="Arial" pitchFamily="34" charset="-120"/>
              </a:rPr>
              <a:t>Terima kasih</a:t>
            </a:r>
            <a:endParaRPr lang="en-US" sz="4000" dirty="0"/>
          </a:p>
        </p:txBody>
      </p:sp>
      <p:sp>
        <p:nvSpPr>
          <p:cNvPr id="5" name="Text 2"/>
          <p:cNvSpPr txBox="1"/>
          <p:nvPr/>
        </p:nvSpPr>
        <p:spPr>
          <a:xfrm>
            <a:off x="1097280" y="2148840"/>
            <a:ext cx="6949440" cy="731520"/>
          </a:xfrm>
          <a:prstGeom prst="rect">
            <a:avLst/>
          </a:prstGeom>
          <a:noFill/>
          <a:ln/>
        </p:spPr>
        <p:txBody>
          <a:bodyPr wrap="square" lIns="0" tIns="0" rIns="0" bIns="0" rtlCol="0" anchor="ctr"/>
          <a:lstStyle/>
          <a:p>
            <a:pPr algn="ctr" indent="0" marL="0">
              <a:buNone/>
            </a:pPr>
            <a:r>
              <a:rPr lang="en-US" sz="1300" dirty="0">
                <a:solidFill>
                  <a:srgbClr val="1D3461"/>
                </a:solidFill>
                <a:latin typeface="Arial" pitchFamily="34" charset="0"/>
                <a:ea typeface="Arial" pitchFamily="34" charset="-122"/>
                <a:cs typeface="Arial" pitchFamily="34" charset="-120"/>
              </a:rPr>
              <a:t>Akbar Tausiur Rido</a:t>
            </a:r>
            <a:endParaRPr lang="en-US" sz="1300" dirty="0"/>
          </a:p>
          <a:p>
            <a:pPr algn="ctr" indent="0" marL="0">
              <a:buNone/>
            </a:pPr>
            <a:r>
              <a:rPr lang="en-US" sz="1300" dirty="0">
                <a:solidFill>
                  <a:srgbClr val="1D3461"/>
                </a:solidFill>
                <a:latin typeface="Arial" pitchFamily="34" charset="0"/>
                <a:ea typeface="Arial" pitchFamily="34" charset="-122"/>
                <a:cs typeface="Arial" pitchFamily="34" charset="-120"/>
              </a:rPr>
              <a:t>Universitas Islam Negeri Sunan Gunung Djati, Bandung</a:t>
            </a:r>
            <a:endParaRPr lang="en-US" sz="1300" dirty="0"/>
          </a:p>
        </p:txBody>
      </p:sp>
      <p:pic>
        <p:nvPicPr>
          <p:cNvPr id="6" name="Image 1" descr="img/man_sun.png">    </p:cNvPr>
          <p:cNvPicPr>
            <a:picLocks noChangeAspect="1"/>
          </p:cNvPicPr>
          <p:nvPr/>
        </p:nvPicPr>
        <p:blipFill>
          <a:blip r:embed="rId3"/>
          <a:stretch>
            <a:fillRect/>
          </a:stretch>
        </p:blipFill>
        <p:spPr>
          <a:xfrm>
            <a:off x="6583680" y="3886200"/>
            <a:ext cx="832104" cy="1188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Guru dalam Proses Pendidikan: Kajian Ayat dan Manajemen Pengelolaannya</dc:title>
  <dc:subject>PptxGenJS Presentation</dc:subject>
  <dc:creator>Akbar Tausiur Rido</dc:creator>
  <cp:lastModifiedBy>Akbar Tausiur Rido</cp:lastModifiedBy>
  <cp:revision>1</cp:revision>
  <dcterms:created xsi:type="dcterms:W3CDTF">2026-09-30T01:06:11Z</dcterms:created>
  <dcterms:modified xsi:type="dcterms:W3CDTF">2026-09-30T01:06:11Z</dcterms:modified>
</cp:coreProperties>
</file>